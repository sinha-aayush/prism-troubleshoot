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Bold" charset="1" panose="020B0704020202020204"/>
      <p:regular r:id="rId18"/>
    </p:embeddedFon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  <p:embeddedFont>
      <p:font typeface="Playfair Display Bold" charset="1" panose="00000000000000000000"/>
      <p:regular r:id="rId21"/>
    </p:embeddedFont>
    <p:embeddedFont>
      <p:font typeface="Playfair Display" charset="1" panose="00000000000000000000"/>
      <p:regular r:id="rId22"/>
    </p:embeddedFont>
    <p:embeddedFont>
      <p:font typeface="Abril Fatface" charset="1" panose="02000503000000020003"/>
      <p:regular r:id="rId23"/>
    </p:embeddedFont>
    <p:embeddedFont>
      <p:font typeface="Arial Bold Italics" charset="1" panose="020B0704020202090204"/>
      <p:regular r:id="rId24"/>
    </p:embeddedFont>
    <p:embeddedFont>
      <p:font typeface="Alice Bold" charset="1" panose="00000500000000000000"/>
      <p:regular r:id="rId25"/>
    </p:embeddedFont>
    <p:embeddedFont>
      <p:font typeface="Arial" charset="1" panose="020B0604020202020204"/>
      <p:regular r:id="rId26"/>
    </p:embeddedFont>
    <p:embeddedFont>
      <p:font typeface="Horizon" charset="1" panose="02000500000000000000"/>
      <p:regular r:id="rId27"/>
    </p:embeddedFont>
    <p:embeddedFont>
      <p:font typeface="League Spartan" charset="1" panose="00000800000000000000"/>
      <p:regular r:id="rId28"/>
    </p:embeddedFont>
    <p:embeddedFont>
      <p:font typeface="Agrandir Grand Bold" charset="1" panose="00000807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6335" y="1005459"/>
            <a:ext cx="3653790" cy="540258"/>
            <a:chOff x="0" y="0"/>
            <a:chExt cx="4871720" cy="7203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71720" cy="720344"/>
            </a:xfrm>
            <a:custGeom>
              <a:avLst/>
              <a:gdLst/>
              <a:ahLst/>
              <a:cxnLst/>
              <a:rect r="r" b="b" t="t" l="l"/>
              <a:pathLst>
                <a:path h="720344" w="4871720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lnTo>
                    <a:pt x="4511548" y="0"/>
                  </a:lnTo>
                  <a:cubicBezTo>
                    <a:pt x="4710430" y="0"/>
                    <a:pt x="4871720" y="161290"/>
                    <a:pt x="4871720" y="360172"/>
                  </a:cubicBezTo>
                  <a:cubicBezTo>
                    <a:pt x="4871720" y="559054"/>
                    <a:pt x="4710430" y="720344"/>
                    <a:pt x="4511548" y="720344"/>
                  </a:cubicBezTo>
                  <a:lnTo>
                    <a:pt x="360172" y="720344"/>
                  </a:ln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3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65860" y="1014984"/>
            <a:ext cx="3634740" cy="521208"/>
            <a:chOff x="0" y="0"/>
            <a:chExt cx="4846320" cy="6949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46320" cy="694944"/>
            </a:xfrm>
            <a:custGeom>
              <a:avLst/>
              <a:gdLst/>
              <a:ahLst/>
              <a:cxnLst/>
              <a:rect r="r" b="b" t="t" l="l"/>
              <a:pathLst>
                <a:path h="694944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882" r="0" b="-858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846320" cy="713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65">
                  <a:solidFill>
                    <a:srgbClr val="6D28D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SAMSUNG PRISM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65860" y="1810512"/>
            <a:ext cx="9189720" cy="1124712"/>
            <a:chOff x="0" y="0"/>
            <a:chExt cx="12252960" cy="14996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25296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207" r="0" b="-10920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2252960" cy="15472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000"/>
                </a:lnSpc>
              </a:pPr>
              <a:r>
                <a:rPr lang="en-US" sz="7500" b="true">
                  <a:solidFill>
                    <a:srgbClr val="1414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Generative AI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65860" y="2852928"/>
            <a:ext cx="9189720" cy="1124712"/>
            <a:chOff x="0" y="0"/>
            <a:chExt cx="12252960" cy="14996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25296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207" r="0" b="-10920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252960" cy="15472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000"/>
                </a:lnSpc>
              </a:pPr>
              <a:r>
                <a:rPr lang="en-US" sz="7500" b="true">
                  <a:solidFill>
                    <a:srgbClr val="6D28D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Hackathon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65860" y="4087368"/>
            <a:ext cx="9189720" cy="685800"/>
            <a:chOff x="0" y="0"/>
            <a:chExt cx="1225296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25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099" r="0" b="-21109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225296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414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3rd Edition</a:t>
              </a:r>
              <a:r>
                <a:rPr lang="en-US" sz="3000">
                  <a:solidFill>
                    <a:srgbClr val="63637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2026 – 27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65860" y="4927092"/>
            <a:ext cx="8778240" cy="365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Theme ID - </a:t>
            </a:r>
            <a:r>
              <a:rPr lang="en-US" b="true" sz="2400">
                <a:solidFill>
                  <a:srgbClr val="63637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Theme 2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Team Name - </a:t>
            </a:r>
            <a:r>
              <a:rPr lang="en-US" b="true" sz="2400">
                <a:solidFill>
                  <a:srgbClr val="63637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CtrlZ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College Name - </a:t>
            </a:r>
            <a:r>
              <a:rPr lang="en-US" b="true" sz="2400">
                <a:solidFill>
                  <a:srgbClr val="63637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SRM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63637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Aditya Narayan Pandey - an0815@srmist.edu.in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63637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Aayush Sinha - as6696@srmist.edu.in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63637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Sujoy Behera - beherasujoy@gmail.com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63637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Divjot Singh Uppal - ds0725@srmist.edu.in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3637E"/>
                </a:solidFill>
                <a:latin typeface="Calibri (MS)"/>
                <a:ea typeface="Calibri (MS)"/>
                <a:cs typeface="Calibri (MS)"/>
                <a:sym typeface="Calibri (MS)"/>
              </a:rPr>
              <a:t>Submission Github link - </a:t>
            </a:r>
            <a:r>
              <a:rPr lang="en-US" b="true" sz="2400">
                <a:solidFill>
                  <a:srgbClr val="63637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https://github.com/sinha-aayush/prism-troubleshoot</a:t>
            </a:r>
          </a:p>
          <a:p>
            <a:pPr algn="l" marL="434340" indent="-217170" lvl="1">
              <a:lnSpc>
                <a:spcPts val="2879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0588752" y="1577340"/>
            <a:ext cx="6858000" cy="6858000"/>
            <a:chOff x="0" y="0"/>
            <a:chExt cx="9144000" cy="9144000"/>
          </a:xfrm>
        </p:grpSpPr>
        <p:sp>
          <p:nvSpPr>
            <p:cNvPr name="Freeform 18" id="18" descr="hero_network.png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2253996"/>
            <a:chOff x="0" y="0"/>
            <a:chExt cx="21031200" cy="30053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3005329"/>
            </a:xfrm>
            <a:custGeom>
              <a:avLst/>
              <a:gdLst/>
              <a:ahLst/>
              <a:cxnLst/>
              <a:rect r="r" b="b" t="t" l="l"/>
              <a:pathLst>
                <a:path h="3005329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3005329"/>
                  </a:lnTo>
                  <a:lnTo>
                    <a:pt x="0" y="30053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248" r="0" b="-8046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2929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 b="true">
                  <a:solidFill>
                    <a:srgbClr val="704EA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Theme</a:t>
              </a:r>
            </a:p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14142B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Smart Guided Troubleshooting Engine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630313"/>
            <a:ext cx="7581132" cy="6510156"/>
            <a:chOff x="0" y="0"/>
            <a:chExt cx="1996677" cy="1714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6677" cy="1714609"/>
            </a:xfrm>
            <a:custGeom>
              <a:avLst/>
              <a:gdLst/>
              <a:ahLst/>
              <a:cxnLst/>
              <a:rect r="r" b="b" t="t" l="l"/>
              <a:pathLst>
                <a:path h="1714609" w="1996677">
                  <a:moveTo>
                    <a:pt x="52082" y="0"/>
                  </a:moveTo>
                  <a:lnTo>
                    <a:pt x="1944595" y="0"/>
                  </a:lnTo>
                  <a:cubicBezTo>
                    <a:pt x="1973359" y="0"/>
                    <a:pt x="1996677" y="23318"/>
                    <a:pt x="1996677" y="52082"/>
                  </a:cubicBezTo>
                  <a:lnTo>
                    <a:pt x="1996677" y="1662527"/>
                  </a:lnTo>
                  <a:cubicBezTo>
                    <a:pt x="1996677" y="1691291"/>
                    <a:pt x="1973359" y="1714609"/>
                    <a:pt x="1944595" y="1714609"/>
                  </a:cubicBezTo>
                  <a:lnTo>
                    <a:pt x="52082" y="1714609"/>
                  </a:lnTo>
                  <a:cubicBezTo>
                    <a:pt x="23318" y="1714609"/>
                    <a:pt x="0" y="1691291"/>
                    <a:pt x="0" y="1662527"/>
                  </a:cubicBezTo>
                  <a:lnTo>
                    <a:pt x="0" y="52082"/>
                  </a:lnTo>
                  <a:cubicBezTo>
                    <a:pt x="0" y="23318"/>
                    <a:pt x="23318" y="0"/>
                    <a:pt x="52082" y="0"/>
                  </a:cubicBezTo>
                  <a:close/>
                </a:path>
              </a:pathLst>
            </a:custGeom>
            <a:solidFill>
              <a:srgbClr val="D9D3F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996677" cy="169555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761"/>
                </a:lnSpc>
              </a:pPr>
              <a:r>
                <a:rPr lang="en-US" sz="3299" spc="32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Problem Statement</a:t>
              </a:r>
            </a:p>
            <a:p>
              <a:pPr algn="l">
                <a:lnSpc>
                  <a:spcPts val="2792"/>
                </a:lnSpc>
              </a:pPr>
              <a:r>
                <a:rPr lang="en-US" b="true" sz="2449" spc="24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Customers often describe device problems in vague, non-technical language, such as:</a:t>
              </a:r>
            </a:p>
            <a:p>
              <a:pPr algn="ctr">
                <a:lnSpc>
                  <a:spcPts val="2792"/>
                </a:lnSpc>
              </a:pPr>
              <a:r>
                <a:rPr lang="en-US" b="true" sz="2449" spc="244">
                  <a:solidFill>
                    <a:srgbClr val="6C26D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“</a:t>
              </a:r>
              <a:r>
                <a:rPr lang="en-US" b="true" sz="2449" i="true" spc="244">
                  <a:solidFill>
                    <a:srgbClr val="6C26DA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Screen flickers and the battery dies fast.</a:t>
              </a:r>
              <a:r>
                <a:rPr lang="en-US" b="true" sz="2449" spc="244">
                  <a:solidFill>
                    <a:srgbClr val="6C26D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”</a:t>
              </a:r>
            </a:p>
            <a:p>
              <a:pPr algn="ctr">
                <a:lnSpc>
                  <a:spcPts val="2792"/>
                </a:lnSpc>
              </a:pPr>
            </a:p>
            <a:p>
              <a:pPr algn="l">
                <a:lnSpc>
                  <a:spcPts val="2792"/>
                </a:lnSpc>
              </a:pPr>
              <a:r>
                <a:rPr lang="en-US" sz="2449" spc="244">
                  <a:solidFill>
                    <a:srgbClr val="000000"/>
                  </a:solidFill>
                  <a:latin typeface="Alice Bold"/>
                  <a:ea typeface="Alice Bold"/>
                  <a:cs typeface="Alice Bold"/>
                  <a:sym typeface="Alice Bold"/>
                </a:rPr>
                <a:t>This creates two major challenges:</a:t>
              </a:r>
            </a:p>
            <a:p>
              <a:pPr algn="l" marL="528951" indent="-264475" lvl="1">
                <a:lnSpc>
                  <a:spcPts val="2792"/>
                </a:lnSpc>
                <a:buFont typeface="Arial"/>
                <a:buChar char="•"/>
              </a:pPr>
              <a:r>
                <a:rPr lang="en-US" b="true" sz="2449" spc="24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Agents spend time manually interpreting customer complaints and converting them into troubleshooting steps.</a:t>
              </a:r>
            </a:p>
            <a:p>
              <a:pPr algn="l" marL="528951" indent="-264475" lvl="1">
                <a:lnSpc>
                  <a:spcPts val="2792"/>
                </a:lnSpc>
                <a:buFont typeface="Arial"/>
                <a:buChar char="•"/>
              </a:pPr>
              <a:r>
                <a:rPr lang="en-US" b="true" sz="2449" spc="24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Users still have to navigate through Settings to actually perform the recommended fix.</a:t>
              </a:r>
            </a:p>
            <a:p>
              <a:pPr algn="l">
                <a:lnSpc>
                  <a:spcPts val="399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78168" y="2630313"/>
            <a:ext cx="7581132" cy="6510156"/>
            <a:chOff x="0" y="0"/>
            <a:chExt cx="1996677" cy="17146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6677" cy="1714609"/>
            </a:xfrm>
            <a:custGeom>
              <a:avLst/>
              <a:gdLst/>
              <a:ahLst/>
              <a:cxnLst/>
              <a:rect r="r" b="b" t="t" l="l"/>
              <a:pathLst>
                <a:path h="1714609" w="1996677">
                  <a:moveTo>
                    <a:pt x="52082" y="0"/>
                  </a:moveTo>
                  <a:lnTo>
                    <a:pt x="1944595" y="0"/>
                  </a:lnTo>
                  <a:cubicBezTo>
                    <a:pt x="1973359" y="0"/>
                    <a:pt x="1996677" y="23318"/>
                    <a:pt x="1996677" y="52082"/>
                  </a:cubicBezTo>
                  <a:lnTo>
                    <a:pt x="1996677" y="1662527"/>
                  </a:lnTo>
                  <a:cubicBezTo>
                    <a:pt x="1996677" y="1691291"/>
                    <a:pt x="1973359" y="1714609"/>
                    <a:pt x="1944595" y="1714609"/>
                  </a:cubicBezTo>
                  <a:lnTo>
                    <a:pt x="52082" y="1714609"/>
                  </a:lnTo>
                  <a:cubicBezTo>
                    <a:pt x="23318" y="1714609"/>
                    <a:pt x="0" y="1691291"/>
                    <a:pt x="0" y="1662527"/>
                  </a:cubicBezTo>
                  <a:lnTo>
                    <a:pt x="0" y="52082"/>
                  </a:lnTo>
                  <a:cubicBezTo>
                    <a:pt x="0" y="23318"/>
                    <a:pt x="23318" y="0"/>
                    <a:pt x="52082" y="0"/>
                  </a:cubicBezTo>
                  <a:close/>
                </a:path>
              </a:pathLst>
            </a:custGeom>
            <a:solidFill>
              <a:srgbClr val="D9D9D9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1996677" cy="169555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849"/>
                </a:lnSpc>
              </a:pPr>
              <a:r>
                <a:rPr lang="en-US" sz="2499" spc="24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What We Build</a:t>
              </a:r>
            </a:p>
            <a:p>
              <a:pPr algn="l">
                <a:lnSpc>
                  <a:spcPts val="2621"/>
                </a:lnSpc>
              </a:pPr>
              <a:r>
                <a:rPr lang="en-US" sz="2299" spc="229">
                  <a:solidFill>
                    <a:srgbClr val="6C26DA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2299" spc="229">
                  <a:solidFill>
                    <a:srgbClr val="6C26DA"/>
                  </a:solidFill>
                  <a:latin typeface="Arial"/>
                  <a:ea typeface="Arial"/>
                  <a:cs typeface="Arial"/>
                  <a:sym typeface="Arial"/>
                </a:rPr>
                <a:t> GenAI-powered troubleshooting engine that:</a:t>
              </a:r>
            </a:p>
            <a:p>
              <a:pPr algn="l">
                <a:lnSpc>
                  <a:spcPts val="2735"/>
                </a:lnSpc>
              </a:pPr>
              <a:r>
                <a:rPr lang="en-US" sz="2399" spc="23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U</a:t>
              </a:r>
              <a:r>
                <a:rPr lang="en-US" sz="2399" spc="23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n</a:t>
              </a:r>
              <a:r>
                <a:rPr lang="en-US" sz="2399" spc="23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d</a:t>
              </a:r>
              <a:r>
                <a:rPr lang="en-US" sz="2399" spc="23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ers</a:t>
              </a:r>
              <a:r>
                <a:rPr lang="en-US" sz="2399" spc="23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t</a:t>
              </a:r>
              <a:r>
                <a:rPr lang="en-US" sz="2399" spc="23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and</a:t>
              </a:r>
              <a:r>
                <a:rPr lang="en-US" sz="2399" spc="23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s</a:t>
              </a:r>
            </a:p>
            <a:p>
              <a:pPr algn="l">
                <a:lnSpc>
                  <a:spcPts val="2621"/>
                </a:lnSpc>
              </a:pPr>
              <a:r>
                <a:rPr lang="en-US" sz="2299" spc="229">
                  <a:solidFill>
                    <a:srgbClr val="6C26DA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299" spc="229">
                  <a:solidFill>
                    <a:srgbClr val="6C26DA"/>
                  </a:solidFill>
                  <a:latin typeface="Arial"/>
                  <a:ea typeface="Arial"/>
                  <a:cs typeface="Arial"/>
                  <a:sym typeface="Arial"/>
                </a:rPr>
                <a:t>→ Converts vague complaints into technical queries</a:t>
              </a:r>
            </a:p>
            <a:p>
              <a:pPr algn="l">
                <a:lnSpc>
                  <a:spcPts val="2735"/>
                </a:lnSpc>
              </a:pPr>
              <a:r>
                <a:rPr lang="en-US" sz="2399" spc="23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G</a:t>
              </a:r>
              <a:r>
                <a:rPr lang="en-US" sz="2399" spc="23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ene</a:t>
              </a:r>
              <a:r>
                <a:rPr lang="en-US" sz="2399" spc="23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ra</a:t>
              </a:r>
              <a:r>
                <a:rPr lang="en-US" sz="2399" spc="23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te</a:t>
              </a:r>
              <a:r>
                <a:rPr lang="en-US" sz="2399" spc="23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s</a:t>
              </a:r>
            </a:p>
            <a:p>
              <a:pPr algn="l">
                <a:lnSpc>
                  <a:spcPts val="2621"/>
                </a:lnSpc>
              </a:pPr>
              <a:r>
                <a:rPr lang="en-US" sz="2299" spc="229">
                  <a:solidFill>
                    <a:srgbClr val="6C26DA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299" spc="229">
                  <a:solidFill>
                    <a:srgbClr val="6C26DA"/>
                  </a:solidFill>
                  <a:latin typeface="Arial"/>
                  <a:ea typeface="Arial"/>
                  <a:cs typeface="Arial"/>
                  <a:sym typeface="Arial"/>
                </a:rPr>
                <a:t>→ Produces clean, ordered troubleshooting actions</a:t>
              </a:r>
            </a:p>
            <a:p>
              <a:pPr algn="l">
                <a:lnSpc>
                  <a:spcPts val="2735"/>
                </a:lnSpc>
              </a:pPr>
              <a:r>
                <a:rPr lang="en-US" sz="2399" spc="23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Conn</a:t>
              </a:r>
              <a:r>
                <a:rPr lang="en-US" sz="2399" spc="23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e</a:t>
              </a:r>
              <a:r>
                <a:rPr lang="en-US" sz="2399" spc="23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ct</a:t>
              </a:r>
              <a:r>
                <a:rPr lang="en-US" sz="2399" spc="23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s</a:t>
              </a:r>
            </a:p>
            <a:p>
              <a:pPr algn="l">
                <a:lnSpc>
                  <a:spcPts val="2621"/>
                </a:lnSpc>
              </a:pPr>
              <a:r>
                <a:rPr lang="en-US" sz="2299" spc="229">
                  <a:solidFill>
                    <a:srgbClr val="6C26DA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299" spc="229">
                  <a:solidFill>
                    <a:srgbClr val="6C26DA"/>
                  </a:solidFill>
                  <a:latin typeface="Arial"/>
                  <a:ea typeface="Arial"/>
                  <a:cs typeface="Arial"/>
                  <a:sym typeface="Arial"/>
                </a:rPr>
                <a:t>→ Maps each action to the appropriate Settings deeplink</a:t>
              </a:r>
            </a:p>
            <a:p>
              <a:pPr algn="l">
                <a:lnSpc>
                  <a:spcPts val="2735"/>
                </a:lnSpc>
              </a:pPr>
              <a:r>
                <a:rPr lang="en-US" sz="2399" spc="23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Accelera</a:t>
              </a:r>
              <a:r>
                <a:rPr lang="en-US" sz="2399" spc="23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t</a:t>
              </a:r>
              <a:r>
                <a:rPr lang="en-US" sz="2399" spc="23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es</a:t>
              </a:r>
            </a:p>
            <a:p>
              <a:pPr algn="l">
                <a:lnSpc>
                  <a:spcPts val="2621"/>
                </a:lnSpc>
              </a:pPr>
              <a:r>
                <a:rPr lang="en-US" sz="2299" spc="229">
                  <a:solidFill>
                    <a:srgbClr val="6C26DA"/>
                  </a:solidFill>
                  <a:latin typeface="Arial"/>
                  <a:ea typeface="Arial"/>
                  <a:cs typeface="Arial"/>
                  <a:sym typeface="Arial"/>
                </a:rPr>
                <a:t> → Uses cached, pre-validated answers for &lt;300 ms responses</a:t>
              </a:r>
            </a:p>
            <a:p>
              <a:pPr algn="l">
                <a:lnSpc>
                  <a:spcPts val="2393"/>
                </a:lnSpc>
              </a:pPr>
            </a:p>
            <a:p>
              <a:pPr algn="l">
                <a:lnSpc>
                  <a:spcPts val="2393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 b="true">
                  <a:solidFill>
                    <a:srgbClr val="704EA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Existing Solutions &amp; Gaps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7300" y="2857675"/>
            <a:ext cx="7534087" cy="1159330"/>
            <a:chOff x="0" y="0"/>
            <a:chExt cx="1984286" cy="3053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4286" cy="305338"/>
            </a:xfrm>
            <a:custGeom>
              <a:avLst/>
              <a:gdLst/>
              <a:ahLst/>
              <a:cxnLst/>
              <a:rect r="r" b="b" t="t" l="l"/>
              <a:pathLst>
                <a:path h="305338" w="1984286">
                  <a:moveTo>
                    <a:pt x="52407" y="0"/>
                  </a:moveTo>
                  <a:lnTo>
                    <a:pt x="1931879" y="0"/>
                  </a:lnTo>
                  <a:cubicBezTo>
                    <a:pt x="1960823" y="0"/>
                    <a:pt x="1984286" y="23463"/>
                    <a:pt x="1984286" y="52407"/>
                  </a:cubicBezTo>
                  <a:lnTo>
                    <a:pt x="1984286" y="252931"/>
                  </a:lnTo>
                  <a:cubicBezTo>
                    <a:pt x="1984286" y="266830"/>
                    <a:pt x="1978765" y="280160"/>
                    <a:pt x="1968937" y="289988"/>
                  </a:cubicBezTo>
                  <a:cubicBezTo>
                    <a:pt x="1959109" y="299817"/>
                    <a:pt x="1945779" y="305338"/>
                    <a:pt x="1931879" y="305338"/>
                  </a:cubicBezTo>
                  <a:lnTo>
                    <a:pt x="52407" y="305338"/>
                  </a:lnTo>
                  <a:cubicBezTo>
                    <a:pt x="38508" y="305338"/>
                    <a:pt x="25178" y="299817"/>
                    <a:pt x="15350" y="289988"/>
                  </a:cubicBezTo>
                  <a:cubicBezTo>
                    <a:pt x="5521" y="280160"/>
                    <a:pt x="0" y="266830"/>
                    <a:pt x="0" y="252931"/>
                  </a:cubicBezTo>
                  <a:lnTo>
                    <a:pt x="0" y="52407"/>
                  </a:lnTo>
                  <a:cubicBezTo>
                    <a:pt x="0" y="38508"/>
                    <a:pt x="5521" y="25178"/>
                    <a:pt x="15350" y="15350"/>
                  </a:cubicBezTo>
                  <a:cubicBezTo>
                    <a:pt x="25178" y="5521"/>
                    <a:pt x="38508" y="0"/>
                    <a:pt x="52407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84286" cy="324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  <a:r>
                <a:rPr lang="en-US" b="true" sz="1700" spc="17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Customer Complaint</a:t>
              </a:r>
            </a:p>
            <a:p>
              <a:pPr algn="ctr">
                <a:lnSpc>
                  <a:spcPts val="1980"/>
                </a:lnSpc>
              </a:pPr>
              <a:r>
                <a:rPr lang="en-US" b="true" sz="1650" spc="165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“My phone screen keeps flickering and my battery drains quickly.”</a:t>
              </a:r>
            </a:p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57300" y="4550405"/>
            <a:ext cx="7534087" cy="921972"/>
            <a:chOff x="0" y="0"/>
            <a:chExt cx="1984286" cy="2428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4286" cy="242824"/>
            </a:xfrm>
            <a:custGeom>
              <a:avLst/>
              <a:gdLst/>
              <a:ahLst/>
              <a:cxnLst/>
              <a:rect r="r" b="b" t="t" l="l"/>
              <a:pathLst>
                <a:path h="242824" w="1984286">
                  <a:moveTo>
                    <a:pt x="52407" y="0"/>
                  </a:moveTo>
                  <a:lnTo>
                    <a:pt x="1931879" y="0"/>
                  </a:lnTo>
                  <a:cubicBezTo>
                    <a:pt x="1960823" y="0"/>
                    <a:pt x="1984286" y="23463"/>
                    <a:pt x="1984286" y="52407"/>
                  </a:cubicBezTo>
                  <a:lnTo>
                    <a:pt x="1984286" y="190417"/>
                  </a:lnTo>
                  <a:cubicBezTo>
                    <a:pt x="1984286" y="204316"/>
                    <a:pt x="1978765" y="217646"/>
                    <a:pt x="1968937" y="227474"/>
                  </a:cubicBezTo>
                  <a:cubicBezTo>
                    <a:pt x="1959109" y="237302"/>
                    <a:pt x="1945779" y="242824"/>
                    <a:pt x="1931879" y="242824"/>
                  </a:cubicBezTo>
                  <a:lnTo>
                    <a:pt x="52407" y="242824"/>
                  </a:lnTo>
                  <a:cubicBezTo>
                    <a:pt x="38508" y="242824"/>
                    <a:pt x="25178" y="237302"/>
                    <a:pt x="15350" y="227474"/>
                  </a:cubicBezTo>
                  <a:cubicBezTo>
                    <a:pt x="5521" y="217646"/>
                    <a:pt x="0" y="204316"/>
                    <a:pt x="0" y="190417"/>
                  </a:cubicBezTo>
                  <a:lnTo>
                    <a:pt x="0" y="52407"/>
                  </a:lnTo>
                  <a:cubicBezTo>
                    <a:pt x="0" y="38508"/>
                    <a:pt x="5521" y="25178"/>
                    <a:pt x="15350" y="15350"/>
                  </a:cubicBezTo>
                  <a:cubicBezTo>
                    <a:pt x="25178" y="5521"/>
                    <a:pt x="38508" y="0"/>
                    <a:pt x="52407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984286" cy="261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Support Agent</a:t>
              </a:r>
            </a:p>
            <a:p>
              <a:pPr algn="ctr">
                <a:lnSpc>
                  <a:spcPts val="1980"/>
                </a:lnSpc>
              </a:pPr>
              <a:r>
                <a:rPr lang="en-US" b="true" sz="1650" spc="165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Manually interprets the complaint</a:t>
              </a:r>
            </a:p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>
            <a:off x="5024344" y="4283705"/>
            <a:ext cx="0" cy="266700"/>
          </a:xfrm>
          <a:custGeom>
            <a:avLst/>
            <a:gdLst/>
            <a:ahLst/>
            <a:cxnLst/>
            <a:rect r="r" b="b" t="t" l="l"/>
            <a:pathLst>
              <a:path h="266700" w="0">
                <a:moveTo>
                  <a:pt x="0" y="0"/>
                </a:moveTo>
                <a:lnTo>
                  <a:pt x="0" y="266700"/>
                </a:lnTo>
              </a:path>
            </a:pathLst>
          </a:custGeom>
          <a:ln cap="rnd" w="38100">
            <a:solidFill>
              <a:srgbClr val="651CD7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1257300" y="6005777"/>
            <a:ext cx="7534087" cy="921972"/>
            <a:chOff x="0" y="0"/>
            <a:chExt cx="1984286" cy="2428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4286" cy="242824"/>
            </a:xfrm>
            <a:custGeom>
              <a:avLst/>
              <a:gdLst/>
              <a:ahLst/>
              <a:cxnLst/>
              <a:rect r="r" b="b" t="t" l="l"/>
              <a:pathLst>
                <a:path h="242824" w="1984286">
                  <a:moveTo>
                    <a:pt x="52407" y="0"/>
                  </a:moveTo>
                  <a:lnTo>
                    <a:pt x="1931879" y="0"/>
                  </a:lnTo>
                  <a:cubicBezTo>
                    <a:pt x="1960823" y="0"/>
                    <a:pt x="1984286" y="23463"/>
                    <a:pt x="1984286" y="52407"/>
                  </a:cubicBezTo>
                  <a:lnTo>
                    <a:pt x="1984286" y="190417"/>
                  </a:lnTo>
                  <a:cubicBezTo>
                    <a:pt x="1984286" y="204316"/>
                    <a:pt x="1978765" y="217646"/>
                    <a:pt x="1968937" y="227474"/>
                  </a:cubicBezTo>
                  <a:cubicBezTo>
                    <a:pt x="1959109" y="237302"/>
                    <a:pt x="1945779" y="242824"/>
                    <a:pt x="1931879" y="242824"/>
                  </a:cubicBezTo>
                  <a:lnTo>
                    <a:pt x="52407" y="242824"/>
                  </a:lnTo>
                  <a:cubicBezTo>
                    <a:pt x="38508" y="242824"/>
                    <a:pt x="25178" y="237302"/>
                    <a:pt x="15350" y="227474"/>
                  </a:cubicBezTo>
                  <a:cubicBezTo>
                    <a:pt x="5521" y="217646"/>
                    <a:pt x="0" y="204316"/>
                    <a:pt x="0" y="190417"/>
                  </a:cubicBezTo>
                  <a:lnTo>
                    <a:pt x="0" y="52407"/>
                  </a:lnTo>
                  <a:cubicBezTo>
                    <a:pt x="0" y="38508"/>
                    <a:pt x="5521" y="25178"/>
                    <a:pt x="15350" y="15350"/>
                  </a:cubicBezTo>
                  <a:cubicBezTo>
                    <a:pt x="25178" y="5521"/>
                    <a:pt x="38508" y="0"/>
                    <a:pt x="52407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984286" cy="261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Troubleshooting Search</a:t>
              </a:r>
            </a:p>
            <a:p>
              <a:pPr algn="ctr">
                <a:lnSpc>
                  <a:spcPts val="1980"/>
                </a:lnSpc>
              </a:pPr>
              <a:r>
                <a:rPr lang="en-US" b="true" sz="1650" spc="165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Finds relevant troubleshooting information</a:t>
              </a:r>
            </a:p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>
            <a:off x="5024344" y="5739077"/>
            <a:ext cx="0" cy="266700"/>
          </a:xfrm>
          <a:custGeom>
            <a:avLst/>
            <a:gdLst/>
            <a:ahLst/>
            <a:cxnLst/>
            <a:rect r="r" b="b" t="t" l="l"/>
            <a:pathLst>
              <a:path h="266700" w="0">
                <a:moveTo>
                  <a:pt x="0" y="0"/>
                </a:moveTo>
                <a:lnTo>
                  <a:pt x="0" y="266700"/>
                </a:lnTo>
              </a:path>
            </a:pathLst>
          </a:custGeom>
          <a:ln cap="rnd" w="38100">
            <a:solidFill>
              <a:srgbClr val="651CD7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1257300" y="7465583"/>
            <a:ext cx="7534087" cy="921972"/>
            <a:chOff x="0" y="0"/>
            <a:chExt cx="1984286" cy="2428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84286" cy="242824"/>
            </a:xfrm>
            <a:custGeom>
              <a:avLst/>
              <a:gdLst/>
              <a:ahLst/>
              <a:cxnLst/>
              <a:rect r="r" b="b" t="t" l="l"/>
              <a:pathLst>
                <a:path h="242824" w="1984286">
                  <a:moveTo>
                    <a:pt x="52407" y="0"/>
                  </a:moveTo>
                  <a:lnTo>
                    <a:pt x="1931879" y="0"/>
                  </a:lnTo>
                  <a:cubicBezTo>
                    <a:pt x="1960823" y="0"/>
                    <a:pt x="1984286" y="23463"/>
                    <a:pt x="1984286" y="52407"/>
                  </a:cubicBezTo>
                  <a:lnTo>
                    <a:pt x="1984286" y="190417"/>
                  </a:lnTo>
                  <a:cubicBezTo>
                    <a:pt x="1984286" y="204316"/>
                    <a:pt x="1978765" y="217646"/>
                    <a:pt x="1968937" y="227474"/>
                  </a:cubicBezTo>
                  <a:cubicBezTo>
                    <a:pt x="1959109" y="237302"/>
                    <a:pt x="1945779" y="242824"/>
                    <a:pt x="1931879" y="242824"/>
                  </a:cubicBezTo>
                  <a:lnTo>
                    <a:pt x="52407" y="242824"/>
                  </a:lnTo>
                  <a:cubicBezTo>
                    <a:pt x="38508" y="242824"/>
                    <a:pt x="25178" y="237302"/>
                    <a:pt x="15350" y="227474"/>
                  </a:cubicBezTo>
                  <a:cubicBezTo>
                    <a:pt x="5521" y="217646"/>
                    <a:pt x="0" y="204316"/>
                    <a:pt x="0" y="190417"/>
                  </a:cubicBezTo>
                  <a:lnTo>
                    <a:pt x="0" y="52407"/>
                  </a:lnTo>
                  <a:cubicBezTo>
                    <a:pt x="0" y="38508"/>
                    <a:pt x="5521" y="25178"/>
                    <a:pt x="15350" y="15350"/>
                  </a:cubicBezTo>
                  <a:cubicBezTo>
                    <a:pt x="25178" y="5521"/>
                    <a:pt x="38508" y="0"/>
                    <a:pt x="52407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984286" cy="261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Manual Instructions</a:t>
              </a:r>
            </a:p>
            <a:p>
              <a:pPr algn="ctr">
                <a:lnSpc>
                  <a:spcPts val="1980"/>
                </a:lnSpc>
              </a:pPr>
              <a:r>
                <a:rPr lang="en-US" b="true" sz="1650" spc="165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Converts information into steps for the customer</a:t>
              </a:r>
            </a:p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>
            <a:off x="5024344" y="7196665"/>
            <a:ext cx="0" cy="268918"/>
          </a:xfrm>
          <a:custGeom>
            <a:avLst/>
            <a:gdLst/>
            <a:ahLst/>
            <a:cxnLst/>
            <a:rect r="r" b="b" t="t" l="l"/>
            <a:pathLst>
              <a:path h="268918" w="0">
                <a:moveTo>
                  <a:pt x="0" y="0"/>
                </a:moveTo>
                <a:lnTo>
                  <a:pt x="0" y="268918"/>
                </a:lnTo>
              </a:path>
            </a:pathLst>
          </a:custGeom>
          <a:ln cap="rnd" w="38100">
            <a:solidFill>
              <a:srgbClr val="651CD7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0" id="20"/>
          <p:cNvGrpSpPr/>
          <p:nvPr/>
        </p:nvGrpSpPr>
        <p:grpSpPr>
          <a:xfrm rot="0">
            <a:off x="1257300" y="8925390"/>
            <a:ext cx="7534087" cy="921972"/>
            <a:chOff x="0" y="0"/>
            <a:chExt cx="1984286" cy="2428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4286" cy="242824"/>
            </a:xfrm>
            <a:custGeom>
              <a:avLst/>
              <a:gdLst/>
              <a:ahLst/>
              <a:cxnLst/>
              <a:rect r="r" b="b" t="t" l="l"/>
              <a:pathLst>
                <a:path h="242824" w="1984286">
                  <a:moveTo>
                    <a:pt x="52407" y="0"/>
                  </a:moveTo>
                  <a:lnTo>
                    <a:pt x="1931879" y="0"/>
                  </a:lnTo>
                  <a:cubicBezTo>
                    <a:pt x="1960823" y="0"/>
                    <a:pt x="1984286" y="23463"/>
                    <a:pt x="1984286" y="52407"/>
                  </a:cubicBezTo>
                  <a:lnTo>
                    <a:pt x="1984286" y="190417"/>
                  </a:lnTo>
                  <a:cubicBezTo>
                    <a:pt x="1984286" y="204316"/>
                    <a:pt x="1978765" y="217646"/>
                    <a:pt x="1968937" y="227474"/>
                  </a:cubicBezTo>
                  <a:cubicBezTo>
                    <a:pt x="1959109" y="237302"/>
                    <a:pt x="1945779" y="242824"/>
                    <a:pt x="1931879" y="242824"/>
                  </a:cubicBezTo>
                  <a:lnTo>
                    <a:pt x="52407" y="242824"/>
                  </a:lnTo>
                  <a:cubicBezTo>
                    <a:pt x="38508" y="242824"/>
                    <a:pt x="25178" y="237302"/>
                    <a:pt x="15350" y="227474"/>
                  </a:cubicBezTo>
                  <a:cubicBezTo>
                    <a:pt x="5521" y="217646"/>
                    <a:pt x="0" y="204316"/>
                    <a:pt x="0" y="190417"/>
                  </a:cubicBezTo>
                  <a:lnTo>
                    <a:pt x="0" y="52407"/>
                  </a:lnTo>
                  <a:cubicBezTo>
                    <a:pt x="0" y="38508"/>
                    <a:pt x="5521" y="25178"/>
                    <a:pt x="15350" y="15350"/>
                  </a:cubicBezTo>
                  <a:cubicBezTo>
                    <a:pt x="25178" y="5521"/>
                    <a:pt x="38508" y="0"/>
                    <a:pt x="52407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984286" cy="261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Customer</a:t>
              </a:r>
            </a:p>
            <a:p>
              <a:pPr algn="ctr">
                <a:lnSpc>
                  <a:spcPts val="1980"/>
                </a:lnSpc>
              </a:pPr>
              <a:r>
                <a:rPr lang="en-US" b="true" sz="1650" spc="165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Manually searches through Settings to perform the fix</a:t>
              </a:r>
            </a:p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>
            <a:off x="5024344" y="8656472"/>
            <a:ext cx="0" cy="268917"/>
          </a:xfrm>
          <a:custGeom>
            <a:avLst/>
            <a:gdLst/>
            <a:ahLst/>
            <a:cxnLst/>
            <a:rect r="r" b="b" t="t" l="l"/>
            <a:pathLst>
              <a:path h="268917" w="0">
                <a:moveTo>
                  <a:pt x="0" y="0"/>
                </a:moveTo>
                <a:lnTo>
                  <a:pt x="0" y="268917"/>
                </a:lnTo>
              </a:path>
            </a:pathLst>
          </a:custGeom>
          <a:ln cap="rnd" w="38100">
            <a:solidFill>
              <a:srgbClr val="651CD7"/>
            </a:solidFill>
            <a:prstDash val="solid"/>
            <a:headEnd type="none" len="sm" w="sm"/>
            <a:tailEnd type="arrow" len="sm" w="med"/>
          </a:ln>
        </p:spPr>
      </p:sp>
      <p:graphicFrame>
        <p:nvGraphicFramePr>
          <p:cNvPr name="Object 24" id="24"/>
          <p:cNvGraphicFramePr/>
          <p:nvPr/>
        </p:nvGraphicFramePr>
        <p:xfrm>
          <a:off x="9518447" y="2857675"/>
          <a:ext cx="3771900" cy="4400550"/>
        </p:xfrm>
        <a:graphic>
          <a:graphicData uri="http://schemas.openxmlformats.org/presentationml/2006/ole">
            <p:oleObj imgW="4648200" imgH="52705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5" id="25"/>
          <p:cNvSpPr txBox="true"/>
          <p:nvPr/>
        </p:nvSpPr>
        <p:spPr>
          <a:xfrm rot="0">
            <a:off x="2291026" y="2369344"/>
            <a:ext cx="546663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449" spc="244">
                <a:solidFill>
                  <a:srgbClr val="14142B"/>
                </a:solidFill>
                <a:latin typeface="Horizon"/>
                <a:ea typeface="Horizon"/>
                <a:cs typeface="Horizon"/>
                <a:sym typeface="Horizon"/>
              </a:rPr>
              <a:t>Existing</a:t>
            </a:r>
            <a:r>
              <a:rPr lang="en-US" sz="2449" spc="244">
                <a:solidFill>
                  <a:srgbClr val="14142B"/>
                </a:solidFill>
                <a:latin typeface="Horizon"/>
                <a:ea typeface="Horizon"/>
                <a:cs typeface="Horizon"/>
                <a:sym typeface="Horizon"/>
              </a:rPr>
              <a:t> Approach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056147" y="2369344"/>
            <a:ext cx="266545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449" spc="244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key gaps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875" y="399774"/>
            <a:ext cx="15773400" cy="1988344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 b="true">
                  <a:solidFill>
                    <a:srgbClr val="704EA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Our Solutions &amp; Architecture Diagram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4746" y="1879830"/>
            <a:ext cx="15418508" cy="1437629"/>
            <a:chOff x="0" y="0"/>
            <a:chExt cx="4060842" cy="3786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0842" cy="378635"/>
            </a:xfrm>
            <a:custGeom>
              <a:avLst/>
              <a:gdLst/>
              <a:ahLst/>
              <a:cxnLst/>
              <a:rect r="r" b="b" t="t" l="l"/>
              <a:pathLst>
                <a:path h="378635" w="4060842">
                  <a:moveTo>
                    <a:pt x="25608" y="0"/>
                  </a:moveTo>
                  <a:lnTo>
                    <a:pt x="4035234" y="0"/>
                  </a:lnTo>
                  <a:cubicBezTo>
                    <a:pt x="4049376" y="0"/>
                    <a:pt x="4060842" y="11465"/>
                    <a:pt x="4060842" y="25608"/>
                  </a:cubicBezTo>
                  <a:lnTo>
                    <a:pt x="4060842" y="353027"/>
                  </a:lnTo>
                  <a:cubicBezTo>
                    <a:pt x="4060842" y="367170"/>
                    <a:pt x="4049376" y="378635"/>
                    <a:pt x="4035234" y="378635"/>
                  </a:cubicBezTo>
                  <a:lnTo>
                    <a:pt x="25608" y="378635"/>
                  </a:lnTo>
                  <a:cubicBezTo>
                    <a:pt x="11465" y="378635"/>
                    <a:pt x="0" y="367170"/>
                    <a:pt x="0" y="353027"/>
                  </a:cubicBezTo>
                  <a:lnTo>
                    <a:pt x="0" y="25608"/>
                  </a:lnTo>
                  <a:cubicBezTo>
                    <a:pt x="0" y="11465"/>
                    <a:pt x="11465" y="0"/>
                    <a:pt x="25608" y="0"/>
                  </a:cubicBezTo>
                  <a:close/>
                </a:path>
              </a:pathLst>
            </a:custGeom>
            <a:solidFill>
              <a:srgbClr val="38D9D7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4060842" cy="388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spc="21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One-Line description</a:t>
              </a:r>
            </a:p>
            <a:p>
              <a:pPr algn="ctr">
                <a:lnSpc>
                  <a:spcPts val="2520"/>
                </a:lnSpc>
              </a:pPr>
              <a:r>
                <a:rPr lang="en-US" b="true" sz="2100" spc="210">
                  <a:solidFill>
                    <a:srgbClr val="704EA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 4-stage pipeline that transforms vague customer complaints into structured, actionable troubleshooting plans.</a:t>
              </a:r>
            </a:p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3820104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spc="240">
                  <a:solidFill>
                    <a:srgbClr val="651CD7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QUERY ENRICHMENT</a:t>
              </a:r>
            </a:p>
            <a:p>
              <a:pPr algn="ctr">
                <a:lnSpc>
                  <a:spcPts val="2099"/>
                </a:lnSpc>
              </a:pPr>
            </a:p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651C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Vague complaint</a:t>
              </a:r>
            </a:p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651C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↓</a:t>
              </a:r>
            </a:p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651C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Technical query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71644" y="3820104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spc="240">
                  <a:solidFill>
                    <a:srgbClr val="651CD7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LLM STRUCTURING</a:t>
              </a:r>
            </a:p>
            <a:p>
              <a:pPr algn="ctr">
                <a:lnSpc>
                  <a:spcPts val="2099"/>
                </a:lnSpc>
              </a:pPr>
            </a:p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651C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Goal</a:t>
              </a:r>
            </a:p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651C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Actions</a:t>
              </a:r>
            </a:p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651C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Ordered Steps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>
            <a:off x="4743222" y="5363154"/>
            <a:ext cx="628422" cy="0"/>
          </a:xfrm>
          <a:custGeom>
            <a:avLst/>
            <a:gdLst/>
            <a:ahLst/>
            <a:cxnLst/>
            <a:rect r="r" b="b" t="t" l="l"/>
            <a:pathLst>
              <a:path h="0" w="628422">
                <a:moveTo>
                  <a:pt x="0" y="0"/>
                </a:moveTo>
                <a:lnTo>
                  <a:pt x="628422" y="0"/>
                </a:lnTo>
              </a:path>
            </a:pathLst>
          </a:custGeom>
          <a:ln cap="rnd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9934241" y="3820104"/>
            <a:ext cx="3086100" cy="308610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spc="240">
                  <a:solidFill>
                    <a:srgbClr val="651CD7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DEEPLINK MAPPING</a:t>
              </a:r>
            </a:p>
            <a:p>
              <a:pPr algn="ctr">
                <a:lnSpc>
                  <a:spcPts val="2099"/>
                </a:lnSpc>
              </a:pPr>
            </a:p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651C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Step</a:t>
              </a:r>
            </a:p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651C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↓</a:t>
              </a:r>
            </a:p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651C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Settings Deeplink</a:t>
              </a:r>
            </a:p>
          </p:txBody>
        </p:sp>
      </p:grpSp>
      <p:sp>
        <p:nvSpPr>
          <p:cNvPr name="Freeform 18" id="18"/>
          <p:cNvSpPr/>
          <p:nvPr/>
        </p:nvSpPr>
        <p:spPr>
          <a:xfrm>
            <a:off x="9195993" y="5363154"/>
            <a:ext cx="738249" cy="0"/>
          </a:xfrm>
          <a:custGeom>
            <a:avLst/>
            <a:gdLst/>
            <a:ahLst/>
            <a:cxnLst/>
            <a:rect r="r" b="b" t="t" l="l"/>
            <a:pathLst>
              <a:path h="0" w="738249">
                <a:moveTo>
                  <a:pt x="0" y="0"/>
                </a:moveTo>
                <a:lnTo>
                  <a:pt x="738249" y="0"/>
                </a:lnTo>
              </a:path>
            </a:pathLst>
          </a:custGeom>
          <a:ln cap="rnd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14173200" y="3820104"/>
            <a:ext cx="3086100" cy="308610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spc="240">
                  <a:solidFill>
                    <a:srgbClr val="651CD7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FAST PATH CACHE</a:t>
              </a:r>
            </a:p>
            <a:p>
              <a:pPr algn="ctr">
                <a:lnSpc>
                  <a:spcPts val="2099"/>
                </a:lnSpc>
              </a:pPr>
            </a:p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651C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Pre-Validated Answer</a:t>
              </a:r>
            </a:p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651C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↓</a:t>
              </a:r>
            </a:p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651C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~50 ms response</a:t>
              </a:r>
            </a:p>
          </p:txBody>
        </p:sp>
      </p:grpSp>
      <p:sp>
        <p:nvSpPr>
          <p:cNvPr name="Freeform 22" id="22"/>
          <p:cNvSpPr/>
          <p:nvPr/>
        </p:nvSpPr>
        <p:spPr>
          <a:xfrm>
            <a:off x="13596770" y="5363154"/>
            <a:ext cx="576430" cy="0"/>
          </a:xfrm>
          <a:custGeom>
            <a:avLst/>
            <a:gdLst/>
            <a:ahLst/>
            <a:cxnLst/>
            <a:rect r="r" b="b" t="t" l="l"/>
            <a:pathLst>
              <a:path h="0" w="576430">
                <a:moveTo>
                  <a:pt x="0" y="0"/>
                </a:moveTo>
                <a:lnTo>
                  <a:pt x="576430" y="0"/>
                </a:lnTo>
              </a:path>
            </a:pathLst>
          </a:custGeom>
          <a:ln cap="rnd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3" id="23"/>
          <p:cNvGrpSpPr/>
          <p:nvPr/>
        </p:nvGrpSpPr>
        <p:grpSpPr>
          <a:xfrm rot="0">
            <a:off x="1364875" y="7411029"/>
            <a:ext cx="15418508" cy="2294982"/>
            <a:chOff x="0" y="0"/>
            <a:chExt cx="4060842" cy="604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60842" cy="604440"/>
            </a:xfrm>
            <a:custGeom>
              <a:avLst/>
              <a:gdLst/>
              <a:ahLst/>
              <a:cxnLst/>
              <a:rect r="r" b="b" t="t" l="l"/>
              <a:pathLst>
                <a:path h="604440" w="4060842">
                  <a:moveTo>
                    <a:pt x="25608" y="0"/>
                  </a:moveTo>
                  <a:lnTo>
                    <a:pt x="4035234" y="0"/>
                  </a:lnTo>
                  <a:cubicBezTo>
                    <a:pt x="4049376" y="0"/>
                    <a:pt x="4060842" y="11465"/>
                    <a:pt x="4060842" y="25608"/>
                  </a:cubicBezTo>
                  <a:lnTo>
                    <a:pt x="4060842" y="578832"/>
                  </a:lnTo>
                  <a:cubicBezTo>
                    <a:pt x="4060842" y="592974"/>
                    <a:pt x="4049376" y="604440"/>
                    <a:pt x="4035234" y="604440"/>
                  </a:cubicBezTo>
                  <a:lnTo>
                    <a:pt x="25608" y="604440"/>
                  </a:lnTo>
                  <a:cubicBezTo>
                    <a:pt x="11465" y="604440"/>
                    <a:pt x="0" y="592974"/>
                    <a:pt x="0" y="578832"/>
                  </a:cubicBezTo>
                  <a:lnTo>
                    <a:pt x="0" y="25608"/>
                  </a:lnTo>
                  <a:cubicBezTo>
                    <a:pt x="0" y="11465"/>
                    <a:pt x="11465" y="0"/>
                    <a:pt x="25608" y="0"/>
                  </a:cubicBezTo>
                  <a:close/>
                </a:path>
              </a:pathLst>
            </a:custGeom>
            <a:solidFill>
              <a:srgbClr val="38D9D7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4060842" cy="604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  <a:r>
                <a:rPr lang="en-US" sz="2599" spc="25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Rest API</a:t>
              </a:r>
            </a:p>
            <a:p>
              <a:pPr algn="ctr">
                <a:lnSpc>
                  <a:spcPts val="2759"/>
                </a:lnSpc>
              </a:pPr>
              <a:r>
                <a:rPr lang="en-US" b="true" sz="2299" spc="229">
                  <a:solidFill>
                    <a:srgbClr val="704EA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POST</a:t>
              </a:r>
              <a:r>
                <a:rPr lang="en-US" b="true" sz="2299" spc="229">
                  <a:solidFill>
                    <a:srgbClr val="704EA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/v1/troubleshoot</a:t>
              </a:r>
            </a:p>
            <a:p>
              <a:pPr algn="ctr">
                <a:lnSpc>
                  <a:spcPts val="2759"/>
                </a:lnSpc>
              </a:pPr>
              <a:r>
                <a:rPr lang="en-US" b="true" sz="2299" spc="229">
                  <a:solidFill>
                    <a:srgbClr val="704EA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↓</a:t>
              </a:r>
            </a:p>
            <a:p>
              <a:pPr algn="ctr">
                <a:lnSpc>
                  <a:spcPts val="2759"/>
                </a:lnSpc>
              </a:pPr>
              <a:r>
                <a:rPr lang="en-US" b="true" sz="2299" spc="229">
                  <a:solidFill>
                    <a:srgbClr val="704EA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      Structured JSON</a:t>
              </a:r>
            </a:p>
            <a:p>
              <a:pPr algn="ctr">
                <a:lnSpc>
                  <a:spcPts val="2759"/>
                </a:lnSpc>
              </a:pPr>
              <a:r>
                <a:rPr lang="en-US" b="true" sz="2299" spc="229">
                  <a:solidFill>
                    <a:srgbClr val="704EA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↓</a:t>
              </a:r>
            </a:p>
            <a:p>
              <a:pPr algn="ctr">
                <a:lnSpc>
                  <a:spcPts val="2339"/>
                </a:lnSpc>
              </a:pPr>
              <a:r>
                <a:rPr lang="en-US" b="true" sz="1949" spc="194">
                  <a:solidFill>
                    <a:srgbClr val="704EA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Actions + Steps + Deeplinks + Metadata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 b="true">
                  <a:solidFill>
                    <a:srgbClr val="704EA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Demo &amp; Product Walkthrough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209486"/>
            <a:ext cx="8115300" cy="3463673"/>
          </a:xfrm>
          <a:custGeom>
            <a:avLst/>
            <a:gdLst/>
            <a:ahLst/>
            <a:cxnLst/>
            <a:rect r="r" b="b" t="t" l="l"/>
            <a:pathLst>
              <a:path h="3463673" w="8115300">
                <a:moveTo>
                  <a:pt x="0" y="0"/>
                </a:moveTo>
                <a:lnTo>
                  <a:pt x="8115300" y="0"/>
                </a:lnTo>
                <a:lnTo>
                  <a:pt x="8115300" y="3463673"/>
                </a:lnTo>
                <a:lnTo>
                  <a:pt x="0" y="346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46021" y="2209486"/>
            <a:ext cx="7813279" cy="7048814"/>
          </a:xfrm>
          <a:custGeom>
            <a:avLst/>
            <a:gdLst/>
            <a:ahLst/>
            <a:cxnLst/>
            <a:rect r="r" b="b" t="t" l="l"/>
            <a:pathLst>
              <a:path h="7048814" w="7813279">
                <a:moveTo>
                  <a:pt x="0" y="0"/>
                </a:moveTo>
                <a:lnTo>
                  <a:pt x="7813279" y="0"/>
                </a:lnTo>
                <a:lnTo>
                  <a:pt x="7813279" y="7048814"/>
                </a:lnTo>
                <a:lnTo>
                  <a:pt x="0" y="7048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6033555"/>
            <a:ext cx="7415093" cy="3224745"/>
          </a:xfrm>
          <a:custGeom>
            <a:avLst/>
            <a:gdLst/>
            <a:ahLst/>
            <a:cxnLst/>
            <a:rect r="r" b="b" t="t" l="l"/>
            <a:pathLst>
              <a:path h="3224745" w="7415093">
                <a:moveTo>
                  <a:pt x="0" y="0"/>
                </a:moveTo>
                <a:lnTo>
                  <a:pt x="7415093" y="0"/>
                </a:lnTo>
                <a:lnTo>
                  <a:pt x="7415093" y="3224745"/>
                </a:lnTo>
                <a:lnTo>
                  <a:pt x="0" y="32247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 b="true">
                  <a:solidFill>
                    <a:srgbClr val="704EA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Tools and tech stack used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19950" y="2264223"/>
            <a:ext cx="3848100" cy="1459773"/>
            <a:chOff x="0" y="0"/>
            <a:chExt cx="1013491" cy="384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3491" cy="384467"/>
            </a:xfrm>
            <a:custGeom>
              <a:avLst/>
              <a:gdLst/>
              <a:ahLst/>
              <a:cxnLst/>
              <a:rect r="r" b="b" t="t" l="l"/>
              <a:pathLst>
                <a:path h="384467" w="1013491">
                  <a:moveTo>
                    <a:pt x="102606" y="0"/>
                  </a:moveTo>
                  <a:lnTo>
                    <a:pt x="910885" y="0"/>
                  </a:lnTo>
                  <a:cubicBezTo>
                    <a:pt x="938098" y="0"/>
                    <a:pt x="964196" y="10810"/>
                    <a:pt x="983439" y="30053"/>
                  </a:cubicBezTo>
                  <a:cubicBezTo>
                    <a:pt x="1002681" y="49295"/>
                    <a:pt x="1013491" y="75393"/>
                    <a:pt x="1013491" y="102606"/>
                  </a:cubicBezTo>
                  <a:lnTo>
                    <a:pt x="1013491" y="281861"/>
                  </a:lnTo>
                  <a:cubicBezTo>
                    <a:pt x="1013491" y="338529"/>
                    <a:pt x="967553" y="384467"/>
                    <a:pt x="910885" y="384467"/>
                  </a:cubicBezTo>
                  <a:lnTo>
                    <a:pt x="102606" y="384467"/>
                  </a:lnTo>
                  <a:cubicBezTo>
                    <a:pt x="75393" y="384467"/>
                    <a:pt x="49295" y="373657"/>
                    <a:pt x="30053" y="354415"/>
                  </a:cubicBezTo>
                  <a:cubicBezTo>
                    <a:pt x="10810" y="335172"/>
                    <a:pt x="0" y="309074"/>
                    <a:pt x="0" y="281861"/>
                  </a:cubicBezTo>
                  <a:lnTo>
                    <a:pt x="0" y="102606"/>
                  </a:lnTo>
                  <a:cubicBezTo>
                    <a:pt x="0" y="75393"/>
                    <a:pt x="10810" y="49295"/>
                    <a:pt x="30053" y="30053"/>
                  </a:cubicBezTo>
                  <a:cubicBezTo>
                    <a:pt x="49295" y="10810"/>
                    <a:pt x="75393" y="0"/>
                    <a:pt x="102606" y="0"/>
                  </a:cubicBezTo>
                  <a:close/>
                </a:path>
              </a:pathLst>
            </a:custGeom>
            <a:solidFill>
              <a:srgbClr val="22D3EE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013491" cy="384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9"/>
                </a:lnSpc>
              </a:pPr>
              <a:r>
                <a:rPr lang="en-US" sz="2299" spc="229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Claude 3.5 Sonnet</a:t>
              </a:r>
            </a:p>
            <a:p>
              <a:pPr algn="ctr">
                <a:lnSpc>
                  <a:spcPts val="2459"/>
                </a:lnSpc>
              </a:pPr>
              <a:r>
                <a:rPr lang="en-US" sz="2049" spc="20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Query enrichment</a:t>
              </a:r>
            </a:p>
            <a:p>
              <a:pPr algn="ctr">
                <a:lnSpc>
                  <a:spcPts val="2459"/>
                </a:lnSpc>
              </a:pPr>
              <a:r>
                <a:rPr lang="en-US" sz="2049" spc="20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Step generation</a:t>
              </a:r>
            </a:p>
            <a:p>
              <a:pPr algn="ctr">
                <a:lnSpc>
                  <a:spcPts val="24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27405" y="4174822"/>
            <a:ext cx="3833189" cy="1392050"/>
            <a:chOff x="0" y="0"/>
            <a:chExt cx="1009564" cy="3666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9564" cy="366630"/>
            </a:xfrm>
            <a:custGeom>
              <a:avLst/>
              <a:gdLst/>
              <a:ahLst/>
              <a:cxnLst/>
              <a:rect r="r" b="b" t="t" l="l"/>
              <a:pathLst>
                <a:path h="366630" w="1009564">
                  <a:moveTo>
                    <a:pt x="103005" y="0"/>
                  </a:moveTo>
                  <a:lnTo>
                    <a:pt x="906559" y="0"/>
                  </a:lnTo>
                  <a:cubicBezTo>
                    <a:pt x="933878" y="0"/>
                    <a:pt x="960078" y="10852"/>
                    <a:pt x="979395" y="30169"/>
                  </a:cubicBezTo>
                  <a:cubicBezTo>
                    <a:pt x="998712" y="49487"/>
                    <a:pt x="1009564" y="75686"/>
                    <a:pt x="1009564" y="103005"/>
                  </a:cubicBezTo>
                  <a:lnTo>
                    <a:pt x="1009564" y="263625"/>
                  </a:lnTo>
                  <a:cubicBezTo>
                    <a:pt x="1009564" y="320513"/>
                    <a:pt x="963447" y="366630"/>
                    <a:pt x="906559" y="366630"/>
                  </a:cubicBezTo>
                  <a:lnTo>
                    <a:pt x="103005" y="366630"/>
                  </a:lnTo>
                  <a:cubicBezTo>
                    <a:pt x="75686" y="366630"/>
                    <a:pt x="49487" y="355778"/>
                    <a:pt x="30169" y="336461"/>
                  </a:cubicBezTo>
                  <a:cubicBezTo>
                    <a:pt x="10852" y="317144"/>
                    <a:pt x="0" y="290944"/>
                    <a:pt x="0" y="263625"/>
                  </a:cubicBezTo>
                  <a:lnTo>
                    <a:pt x="0" y="103005"/>
                  </a:lnTo>
                  <a:cubicBezTo>
                    <a:pt x="0" y="46117"/>
                    <a:pt x="46117" y="0"/>
                    <a:pt x="103005" y="0"/>
                  </a:cubicBezTo>
                  <a:close/>
                </a:path>
              </a:pathLst>
            </a:custGeom>
            <a:solidFill>
              <a:srgbClr val="22D3EE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09564" cy="366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spc="200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FastAPI</a:t>
              </a:r>
            </a:p>
            <a:p>
              <a:pPr algn="ctr">
                <a:lnSpc>
                  <a:spcPts val="2099"/>
                </a:lnSpc>
              </a:pPr>
              <a:r>
                <a:rPr lang="en-US" sz="1749" spc="17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REST API</a:t>
              </a:r>
            </a:p>
            <a:p>
              <a:pPr algn="ctr">
                <a:lnSpc>
                  <a:spcPts val="2099"/>
                </a:lnSpc>
              </a:pPr>
              <a:r>
                <a:rPr lang="en-US" sz="1749" spc="17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Request/response handling</a:t>
              </a:r>
            </a:p>
            <a:p>
              <a:pPr algn="ctr">
                <a:lnSpc>
                  <a:spcPts val="20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>
            <a:off x="9144000" y="3949409"/>
            <a:ext cx="0" cy="225413"/>
          </a:xfrm>
          <a:custGeom>
            <a:avLst/>
            <a:gdLst/>
            <a:ahLst/>
            <a:cxnLst/>
            <a:rect r="r" b="b" t="t" l="l"/>
            <a:pathLst>
              <a:path h="225413" w="0">
                <a:moveTo>
                  <a:pt x="0" y="0"/>
                </a:moveTo>
                <a:lnTo>
                  <a:pt x="0" y="225413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1257300" y="4149199"/>
            <a:ext cx="3964715" cy="1417673"/>
            <a:chOff x="0" y="0"/>
            <a:chExt cx="1044205" cy="3733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4205" cy="373379"/>
            </a:xfrm>
            <a:custGeom>
              <a:avLst/>
              <a:gdLst/>
              <a:ahLst/>
              <a:cxnLst/>
              <a:rect r="r" b="b" t="t" l="l"/>
              <a:pathLst>
                <a:path h="373379" w="1044205">
                  <a:moveTo>
                    <a:pt x="99588" y="0"/>
                  </a:moveTo>
                  <a:lnTo>
                    <a:pt x="944617" y="0"/>
                  </a:lnTo>
                  <a:cubicBezTo>
                    <a:pt x="999618" y="0"/>
                    <a:pt x="1044205" y="44587"/>
                    <a:pt x="1044205" y="99588"/>
                  </a:cubicBezTo>
                  <a:lnTo>
                    <a:pt x="1044205" y="273791"/>
                  </a:lnTo>
                  <a:cubicBezTo>
                    <a:pt x="1044205" y="300203"/>
                    <a:pt x="1033712" y="325534"/>
                    <a:pt x="1015036" y="344210"/>
                  </a:cubicBezTo>
                  <a:cubicBezTo>
                    <a:pt x="996360" y="362887"/>
                    <a:pt x="971029" y="373379"/>
                    <a:pt x="944617" y="373379"/>
                  </a:cubicBezTo>
                  <a:lnTo>
                    <a:pt x="99588" y="373379"/>
                  </a:lnTo>
                  <a:cubicBezTo>
                    <a:pt x="73176" y="373379"/>
                    <a:pt x="47845" y="362887"/>
                    <a:pt x="29169" y="344210"/>
                  </a:cubicBezTo>
                  <a:cubicBezTo>
                    <a:pt x="10492" y="325534"/>
                    <a:pt x="0" y="300203"/>
                    <a:pt x="0" y="273791"/>
                  </a:cubicBezTo>
                  <a:lnTo>
                    <a:pt x="0" y="99588"/>
                  </a:lnTo>
                  <a:cubicBezTo>
                    <a:pt x="0" y="73176"/>
                    <a:pt x="10492" y="47845"/>
                    <a:pt x="29169" y="29169"/>
                  </a:cubicBezTo>
                  <a:cubicBezTo>
                    <a:pt x="47845" y="10492"/>
                    <a:pt x="73176" y="0"/>
                    <a:pt x="99588" y="0"/>
                  </a:cubicBezTo>
                  <a:close/>
                </a:path>
              </a:pathLst>
            </a:custGeom>
            <a:solidFill>
              <a:srgbClr val="22D3EE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044205" cy="373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spc="200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Python</a:t>
              </a:r>
            </a:p>
            <a:p>
              <a:pPr algn="ctr">
                <a:lnSpc>
                  <a:spcPts val="2099"/>
                </a:lnSpc>
              </a:pPr>
              <a:r>
                <a:rPr lang="en-US" sz="1749" spc="17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Core programming language</a:t>
              </a:r>
            </a:p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>
            <a:off x="5222015" y="4858035"/>
            <a:ext cx="2005391" cy="12812"/>
          </a:xfrm>
          <a:custGeom>
            <a:avLst/>
            <a:gdLst/>
            <a:ahLst/>
            <a:cxnLst/>
            <a:rect r="r" b="b" t="t" l="l"/>
            <a:pathLst>
              <a:path h="12812" w="2005391">
                <a:moveTo>
                  <a:pt x="2005390" y="12812"/>
                </a:moveTo>
                <a:lnTo>
                  <a:pt x="1009101" y="12812"/>
                </a:lnTo>
                <a:cubicBezTo>
                  <a:pt x="1007402" y="12812"/>
                  <a:pt x="1005773" y="12137"/>
                  <a:pt x="1004571" y="10936"/>
                </a:cubicBezTo>
                <a:cubicBezTo>
                  <a:pt x="1003370" y="9734"/>
                  <a:pt x="1002695" y="8105"/>
                  <a:pt x="1002695" y="6406"/>
                </a:cubicBezTo>
                <a:lnTo>
                  <a:pt x="1002695" y="6406"/>
                </a:lnTo>
                <a:cubicBezTo>
                  <a:pt x="1002695" y="4707"/>
                  <a:pt x="1002020" y="3078"/>
                  <a:pt x="1000819" y="1876"/>
                </a:cubicBezTo>
                <a:cubicBezTo>
                  <a:pt x="999617" y="675"/>
                  <a:pt x="997988" y="0"/>
                  <a:pt x="996289" y="0"/>
                </a:cubicBezTo>
                <a:lnTo>
                  <a:pt x="0" y="0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13477630" y="4226076"/>
            <a:ext cx="3781670" cy="1263918"/>
            <a:chOff x="0" y="0"/>
            <a:chExt cx="995995" cy="3328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5995" cy="332884"/>
            </a:xfrm>
            <a:custGeom>
              <a:avLst/>
              <a:gdLst/>
              <a:ahLst/>
              <a:cxnLst/>
              <a:rect r="r" b="b" t="t" l="l"/>
              <a:pathLst>
                <a:path h="332884" w="995995">
                  <a:moveTo>
                    <a:pt x="104408" y="0"/>
                  </a:moveTo>
                  <a:lnTo>
                    <a:pt x="891587" y="0"/>
                  </a:lnTo>
                  <a:cubicBezTo>
                    <a:pt x="919278" y="0"/>
                    <a:pt x="945835" y="11000"/>
                    <a:pt x="965415" y="30580"/>
                  </a:cubicBezTo>
                  <a:cubicBezTo>
                    <a:pt x="984995" y="50161"/>
                    <a:pt x="995995" y="76718"/>
                    <a:pt x="995995" y="104408"/>
                  </a:cubicBezTo>
                  <a:lnTo>
                    <a:pt x="995995" y="228475"/>
                  </a:lnTo>
                  <a:cubicBezTo>
                    <a:pt x="995995" y="286139"/>
                    <a:pt x="949250" y="332884"/>
                    <a:pt x="891587" y="332884"/>
                  </a:cubicBezTo>
                  <a:lnTo>
                    <a:pt x="104408" y="332884"/>
                  </a:lnTo>
                  <a:cubicBezTo>
                    <a:pt x="46745" y="332884"/>
                    <a:pt x="0" y="286139"/>
                    <a:pt x="0" y="228475"/>
                  </a:cubicBezTo>
                  <a:lnTo>
                    <a:pt x="0" y="104408"/>
                  </a:lnTo>
                  <a:cubicBezTo>
                    <a:pt x="0" y="46745"/>
                    <a:pt x="46745" y="0"/>
                    <a:pt x="104408" y="0"/>
                  </a:cubicBezTo>
                  <a:close/>
                </a:path>
              </a:pathLst>
            </a:custGeom>
            <a:solidFill>
              <a:srgbClr val="22D3EE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995995" cy="332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spc="200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REST + JSON</a:t>
              </a:r>
            </a:p>
            <a:p>
              <a:pPr algn="ctr">
                <a:lnSpc>
                  <a:spcPts val="2099"/>
                </a:lnSpc>
              </a:pPr>
              <a:r>
                <a:rPr lang="en-US" sz="1749" spc="17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Structured API communication</a:t>
              </a:r>
            </a:p>
            <a:p>
              <a:pPr algn="ctr">
                <a:lnSpc>
                  <a:spcPts val="209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>
            <a:off x="11060595" y="4858035"/>
            <a:ext cx="2417035" cy="12812"/>
          </a:xfrm>
          <a:custGeom>
            <a:avLst/>
            <a:gdLst/>
            <a:ahLst/>
            <a:cxnLst/>
            <a:rect r="r" b="b" t="t" l="l"/>
            <a:pathLst>
              <a:path h="12812" w="2417035">
                <a:moveTo>
                  <a:pt x="0" y="12812"/>
                </a:moveTo>
                <a:lnTo>
                  <a:pt x="1202112" y="12812"/>
                </a:lnTo>
                <a:cubicBezTo>
                  <a:pt x="1203811" y="12812"/>
                  <a:pt x="1205440" y="12137"/>
                  <a:pt x="1206641" y="10936"/>
                </a:cubicBezTo>
                <a:cubicBezTo>
                  <a:pt x="1207842" y="9734"/>
                  <a:pt x="1208517" y="8105"/>
                  <a:pt x="1208517" y="6406"/>
                </a:cubicBezTo>
                <a:lnTo>
                  <a:pt x="1208517" y="6406"/>
                </a:lnTo>
                <a:cubicBezTo>
                  <a:pt x="1208517" y="2868"/>
                  <a:pt x="1211385" y="0"/>
                  <a:pt x="1214923" y="0"/>
                </a:cubicBezTo>
                <a:lnTo>
                  <a:pt x="2417035" y="0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0" id="20"/>
          <p:cNvGrpSpPr/>
          <p:nvPr/>
        </p:nvGrpSpPr>
        <p:grpSpPr>
          <a:xfrm rot="0">
            <a:off x="9906000" y="6316060"/>
            <a:ext cx="4037933" cy="1263918"/>
            <a:chOff x="0" y="0"/>
            <a:chExt cx="1063488" cy="3328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3488" cy="332884"/>
            </a:xfrm>
            <a:custGeom>
              <a:avLst/>
              <a:gdLst/>
              <a:ahLst/>
              <a:cxnLst/>
              <a:rect r="r" b="b" t="t" l="l"/>
              <a:pathLst>
                <a:path h="332884" w="1063488">
                  <a:moveTo>
                    <a:pt x="97782" y="0"/>
                  </a:moveTo>
                  <a:lnTo>
                    <a:pt x="965706" y="0"/>
                  </a:lnTo>
                  <a:cubicBezTo>
                    <a:pt x="991640" y="0"/>
                    <a:pt x="1016511" y="10302"/>
                    <a:pt x="1034849" y="28640"/>
                  </a:cubicBezTo>
                  <a:cubicBezTo>
                    <a:pt x="1053186" y="46977"/>
                    <a:pt x="1063488" y="71849"/>
                    <a:pt x="1063488" y="97782"/>
                  </a:cubicBezTo>
                  <a:lnTo>
                    <a:pt x="1063488" y="235102"/>
                  </a:lnTo>
                  <a:cubicBezTo>
                    <a:pt x="1063488" y="261035"/>
                    <a:pt x="1053186" y="285906"/>
                    <a:pt x="1034849" y="304244"/>
                  </a:cubicBezTo>
                  <a:cubicBezTo>
                    <a:pt x="1016511" y="322582"/>
                    <a:pt x="991640" y="332884"/>
                    <a:pt x="965706" y="332884"/>
                  </a:cubicBezTo>
                  <a:lnTo>
                    <a:pt x="97782" y="332884"/>
                  </a:lnTo>
                  <a:cubicBezTo>
                    <a:pt x="71849" y="332884"/>
                    <a:pt x="46977" y="322582"/>
                    <a:pt x="28640" y="304244"/>
                  </a:cubicBezTo>
                  <a:cubicBezTo>
                    <a:pt x="10302" y="285906"/>
                    <a:pt x="0" y="261035"/>
                    <a:pt x="0" y="235102"/>
                  </a:cubicBezTo>
                  <a:lnTo>
                    <a:pt x="0" y="97782"/>
                  </a:lnTo>
                  <a:cubicBezTo>
                    <a:pt x="0" y="71849"/>
                    <a:pt x="10302" y="46977"/>
                    <a:pt x="28640" y="28640"/>
                  </a:cubicBezTo>
                  <a:cubicBezTo>
                    <a:pt x="46977" y="10302"/>
                    <a:pt x="71849" y="0"/>
                    <a:pt x="97782" y="0"/>
                  </a:cubicBezTo>
                  <a:close/>
                </a:path>
              </a:pathLst>
            </a:custGeom>
            <a:solidFill>
              <a:srgbClr val="22D3EE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063488" cy="332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spc="200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Settings Deeplinks</a:t>
              </a:r>
            </a:p>
            <a:p>
              <a:pPr algn="ctr">
                <a:lnSpc>
                  <a:spcPts val="2099"/>
                </a:lnSpc>
              </a:pPr>
              <a:r>
                <a:rPr lang="en-US" sz="1749" spc="17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Connect steps to Settings actions</a:t>
              </a:r>
            </a:p>
            <a:p>
              <a:pPr algn="ctr">
                <a:lnSpc>
                  <a:spcPts val="209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>
            <a:off x="9144000" y="5566872"/>
            <a:ext cx="2780967" cy="749188"/>
          </a:xfrm>
          <a:custGeom>
            <a:avLst/>
            <a:gdLst/>
            <a:ahLst/>
            <a:cxnLst/>
            <a:rect r="r" b="b" t="t" l="l"/>
            <a:pathLst>
              <a:path h="749188" w="2780967">
                <a:moveTo>
                  <a:pt x="0" y="0"/>
                </a:moveTo>
                <a:lnTo>
                  <a:pt x="1161883" y="0"/>
                </a:lnTo>
                <a:cubicBezTo>
                  <a:pt x="1222512" y="0"/>
                  <a:pt x="1280657" y="24084"/>
                  <a:pt x="1323528" y="66955"/>
                </a:cubicBezTo>
                <a:cubicBezTo>
                  <a:pt x="1366399" y="109826"/>
                  <a:pt x="1390483" y="167971"/>
                  <a:pt x="1390483" y="228600"/>
                </a:cubicBezTo>
                <a:lnTo>
                  <a:pt x="1390483" y="520588"/>
                </a:lnTo>
                <a:cubicBezTo>
                  <a:pt x="1390483" y="646841"/>
                  <a:pt x="1492831" y="749188"/>
                  <a:pt x="1619083" y="749188"/>
                </a:cubicBezTo>
                <a:lnTo>
                  <a:pt x="2780967" y="749188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4161023" y="6316060"/>
            <a:ext cx="4220977" cy="1307846"/>
            <a:chOff x="0" y="0"/>
            <a:chExt cx="1111698" cy="34445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11698" cy="344453"/>
            </a:xfrm>
            <a:custGeom>
              <a:avLst/>
              <a:gdLst/>
              <a:ahLst/>
              <a:cxnLst/>
              <a:rect r="r" b="b" t="t" l="l"/>
              <a:pathLst>
                <a:path h="344453" w="1111698">
                  <a:moveTo>
                    <a:pt x="93542" y="0"/>
                  </a:moveTo>
                  <a:lnTo>
                    <a:pt x="1018156" y="0"/>
                  </a:lnTo>
                  <a:cubicBezTo>
                    <a:pt x="1069818" y="0"/>
                    <a:pt x="1111698" y="41880"/>
                    <a:pt x="1111698" y="93542"/>
                  </a:cubicBezTo>
                  <a:lnTo>
                    <a:pt x="1111698" y="250911"/>
                  </a:lnTo>
                  <a:cubicBezTo>
                    <a:pt x="1111698" y="302573"/>
                    <a:pt x="1069818" y="344453"/>
                    <a:pt x="1018156" y="344453"/>
                  </a:cubicBezTo>
                  <a:lnTo>
                    <a:pt x="93542" y="344453"/>
                  </a:lnTo>
                  <a:cubicBezTo>
                    <a:pt x="68733" y="344453"/>
                    <a:pt x="44940" y="334598"/>
                    <a:pt x="27398" y="317056"/>
                  </a:cubicBezTo>
                  <a:cubicBezTo>
                    <a:pt x="9855" y="299513"/>
                    <a:pt x="0" y="275720"/>
                    <a:pt x="0" y="250911"/>
                  </a:cubicBezTo>
                  <a:lnTo>
                    <a:pt x="0" y="93542"/>
                  </a:lnTo>
                  <a:cubicBezTo>
                    <a:pt x="0" y="41880"/>
                    <a:pt x="41880" y="0"/>
                    <a:pt x="93542" y="0"/>
                  </a:cubicBezTo>
                  <a:close/>
                </a:path>
              </a:pathLst>
            </a:custGeom>
            <a:solidFill>
              <a:srgbClr val="22D3EE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111698" cy="344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spc="200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In-Memory Cache</a:t>
              </a:r>
            </a:p>
            <a:p>
              <a:pPr algn="ctr">
                <a:lnSpc>
                  <a:spcPts val="2099"/>
                </a:lnSpc>
              </a:pPr>
              <a:r>
                <a:rPr lang="en-US" sz="1749" spc="17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Fast-path responses</a:t>
              </a:r>
            </a:p>
            <a:p>
              <a:pPr algn="ctr">
                <a:lnSpc>
                  <a:spcPts val="2099"/>
                </a:lnSpc>
              </a:pPr>
              <a:r>
                <a:rPr lang="en-US" sz="1749" spc="17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~50 ms cache hit</a:t>
              </a:r>
            </a:p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>
            <a:off x="6271511" y="5566872"/>
            <a:ext cx="2872489" cy="749188"/>
          </a:xfrm>
          <a:custGeom>
            <a:avLst/>
            <a:gdLst/>
            <a:ahLst/>
            <a:cxnLst/>
            <a:rect r="r" b="b" t="t" l="l"/>
            <a:pathLst>
              <a:path h="749188" w="2872489">
                <a:moveTo>
                  <a:pt x="2872489" y="0"/>
                </a:moveTo>
                <a:lnTo>
                  <a:pt x="1664845" y="0"/>
                </a:lnTo>
                <a:cubicBezTo>
                  <a:pt x="1604216" y="0"/>
                  <a:pt x="1546071" y="24084"/>
                  <a:pt x="1503200" y="66955"/>
                </a:cubicBezTo>
                <a:cubicBezTo>
                  <a:pt x="1460329" y="109826"/>
                  <a:pt x="1436245" y="167971"/>
                  <a:pt x="1436245" y="228600"/>
                </a:cubicBezTo>
                <a:lnTo>
                  <a:pt x="1436245" y="520588"/>
                </a:lnTo>
                <a:cubicBezTo>
                  <a:pt x="1436245" y="646841"/>
                  <a:pt x="1333897" y="749188"/>
                  <a:pt x="1207645" y="749188"/>
                </a:cubicBezTo>
                <a:lnTo>
                  <a:pt x="0" y="749188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8" id="28"/>
          <p:cNvSpPr/>
          <p:nvPr/>
        </p:nvSpPr>
        <p:spPr>
          <a:xfrm>
            <a:off x="9144000" y="7579978"/>
            <a:ext cx="2780967" cy="990600"/>
          </a:xfrm>
          <a:custGeom>
            <a:avLst/>
            <a:gdLst/>
            <a:ahLst/>
            <a:cxnLst/>
            <a:rect r="r" b="b" t="t" l="l"/>
            <a:pathLst>
              <a:path h="990600" w="2780967">
                <a:moveTo>
                  <a:pt x="2780967" y="0"/>
                </a:moveTo>
                <a:lnTo>
                  <a:pt x="1619083" y="0"/>
                </a:lnTo>
                <a:cubicBezTo>
                  <a:pt x="1558454" y="0"/>
                  <a:pt x="1500309" y="24085"/>
                  <a:pt x="1457439" y="66956"/>
                </a:cubicBezTo>
                <a:cubicBezTo>
                  <a:pt x="1414568" y="109826"/>
                  <a:pt x="1390483" y="167972"/>
                  <a:pt x="1390483" y="228600"/>
                </a:cubicBezTo>
                <a:lnTo>
                  <a:pt x="1390483" y="762000"/>
                </a:lnTo>
                <a:cubicBezTo>
                  <a:pt x="1390483" y="822629"/>
                  <a:pt x="1366399" y="880775"/>
                  <a:pt x="1323528" y="923645"/>
                </a:cubicBezTo>
                <a:cubicBezTo>
                  <a:pt x="1280657" y="966516"/>
                  <a:pt x="1222512" y="990600"/>
                  <a:pt x="1161883" y="990600"/>
                </a:cubicBezTo>
                <a:lnTo>
                  <a:pt x="0" y="990600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9" id="29"/>
          <p:cNvGrpSpPr/>
          <p:nvPr/>
        </p:nvGrpSpPr>
        <p:grpSpPr>
          <a:xfrm rot="0">
            <a:off x="6832162" y="8570578"/>
            <a:ext cx="4623676" cy="1362760"/>
            <a:chOff x="0" y="0"/>
            <a:chExt cx="1217758" cy="3589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7758" cy="358916"/>
            </a:xfrm>
            <a:custGeom>
              <a:avLst/>
              <a:gdLst/>
              <a:ahLst/>
              <a:cxnLst/>
              <a:rect r="r" b="b" t="t" l="l"/>
              <a:pathLst>
                <a:path h="358916" w="1217758">
                  <a:moveTo>
                    <a:pt x="85395" y="0"/>
                  </a:moveTo>
                  <a:lnTo>
                    <a:pt x="1132363" y="0"/>
                  </a:lnTo>
                  <a:cubicBezTo>
                    <a:pt x="1155012" y="0"/>
                    <a:pt x="1176732" y="8997"/>
                    <a:pt x="1192747" y="25012"/>
                  </a:cubicBezTo>
                  <a:cubicBezTo>
                    <a:pt x="1208761" y="41026"/>
                    <a:pt x="1217758" y="62747"/>
                    <a:pt x="1217758" y="85395"/>
                  </a:cubicBezTo>
                  <a:lnTo>
                    <a:pt x="1217758" y="273521"/>
                  </a:lnTo>
                  <a:cubicBezTo>
                    <a:pt x="1217758" y="296169"/>
                    <a:pt x="1208761" y="317890"/>
                    <a:pt x="1192747" y="333905"/>
                  </a:cubicBezTo>
                  <a:cubicBezTo>
                    <a:pt x="1176732" y="349919"/>
                    <a:pt x="1155012" y="358916"/>
                    <a:pt x="1132363" y="358916"/>
                  </a:cubicBezTo>
                  <a:lnTo>
                    <a:pt x="85395" y="358916"/>
                  </a:lnTo>
                  <a:cubicBezTo>
                    <a:pt x="62747" y="358916"/>
                    <a:pt x="41026" y="349919"/>
                    <a:pt x="25012" y="333905"/>
                  </a:cubicBezTo>
                  <a:cubicBezTo>
                    <a:pt x="8997" y="317890"/>
                    <a:pt x="0" y="296169"/>
                    <a:pt x="0" y="273521"/>
                  </a:cubicBezTo>
                  <a:lnTo>
                    <a:pt x="0" y="85395"/>
                  </a:lnTo>
                  <a:cubicBezTo>
                    <a:pt x="0" y="62747"/>
                    <a:pt x="8997" y="41026"/>
                    <a:pt x="25012" y="25012"/>
                  </a:cubicBezTo>
                  <a:cubicBezTo>
                    <a:pt x="41026" y="8997"/>
                    <a:pt x="62747" y="0"/>
                    <a:pt x="85395" y="0"/>
                  </a:cubicBezTo>
                  <a:close/>
                </a:path>
              </a:pathLst>
            </a:custGeom>
            <a:solidFill>
              <a:srgbClr val="22D3EE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217758" cy="358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spc="200">
                  <a:solidFill>
                    <a:srgbClr val="000000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Settings Deeplinks</a:t>
              </a:r>
            </a:p>
            <a:p>
              <a:pPr algn="ctr">
                <a:lnSpc>
                  <a:spcPts val="2099"/>
                </a:lnSpc>
              </a:pPr>
              <a:r>
                <a:rPr lang="en-US" sz="1749" spc="17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Connect steps to Settings actions</a:t>
              </a:r>
            </a:p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>
            <a:off x="6271511" y="7623906"/>
            <a:ext cx="2872489" cy="946672"/>
          </a:xfrm>
          <a:custGeom>
            <a:avLst/>
            <a:gdLst/>
            <a:ahLst/>
            <a:cxnLst/>
            <a:rect r="r" b="b" t="t" l="l"/>
            <a:pathLst>
              <a:path h="946672" w="2872489">
                <a:moveTo>
                  <a:pt x="0" y="0"/>
                </a:moveTo>
                <a:lnTo>
                  <a:pt x="1207645" y="0"/>
                </a:lnTo>
                <a:cubicBezTo>
                  <a:pt x="1333897" y="0"/>
                  <a:pt x="1436245" y="102348"/>
                  <a:pt x="1436245" y="228600"/>
                </a:cubicBezTo>
                <a:lnTo>
                  <a:pt x="1436245" y="718072"/>
                </a:lnTo>
                <a:cubicBezTo>
                  <a:pt x="1436245" y="778701"/>
                  <a:pt x="1460329" y="836847"/>
                  <a:pt x="1503200" y="879717"/>
                </a:cubicBezTo>
                <a:cubicBezTo>
                  <a:pt x="1546071" y="922588"/>
                  <a:pt x="1604216" y="946672"/>
                  <a:pt x="1664845" y="946672"/>
                </a:cubicBezTo>
                <a:lnTo>
                  <a:pt x="2872489" y="946672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 b="true">
                  <a:solidFill>
                    <a:srgbClr val="704EA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Impact &amp; Use case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319137"/>
            <a:ext cx="4788416" cy="4294195"/>
            <a:chOff x="0" y="0"/>
            <a:chExt cx="1261147" cy="11309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1147" cy="1130981"/>
            </a:xfrm>
            <a:custGeom>
              <a:avLst/>
              <a:gdLst/>
              <a:ahLst/>
              <a:cxnLst/>
              <a:rect r="r" b="b" t="t" l="l"/>
              <a:pathLst>
                <a:path h="1130981" w="1261147">
                  <a:moveTo>
                    <a:pt x="82457" y="0"/>
                  </a:moveTo>
                  <a:lnTo>
                    <a:pt x="1178690" y="0"/>
                  </a:lnTo>
                  <a:cubicBezTo>
                    <a:pt x="1200559" y="0"/>
                    <a:pt x="1221532" y="8687"/>
                    <a:pt x="1236996" y="24151"/>
                  </a:cubicBezTo>
                  <a:cubicBezTo>
                    <a:pt x="1252459" y="39615"/>
                    <a:pt x="1261147" y="60588"/>
                    <a:pt x="1261147" y="82457"/>
                  </a:cubicBezTo>
                  <a:lnTo>
                    <a:pt x="1261147" y="1048525"/>
                  </a:lnTo>
                  <a:cubicBezTo>
                    <a:pt x="1261147" y="1070393"/>
                    <a:pt x="1252459" y="1091367"/>
                    <a:pt x="1236996" y="1106830"/>
                  </a:cubicBezTo>
                  <a:cubicBezTo>
                    <a:pt x="1221532" y="1122294"/>
                    <a:pt x="1200559" y="1130981"/>
                    <a:pt x="1178690" y="1130981"/>
                  </a:cubicBezTo>
                  <a:lnTo>
                    <a:pt x="82457" y="1130981"/>
                  </a:lnTo>
                  <a:cubicBezTo>
                    <a:pt x="60588" y="1130981"/>
                    <a:pt x="39615" y="1122294"/>
                    <a:pt x="24151" y="1106830"/>
                  </a:cubicBezTo>
                  <a:cubicBezTo>
                    <a:pt x="8687" y="1091367"/>
                    <a:pt x="0" y="1070393"/>
                    <a:pt x="0" y="1048525"/>
                  </a:cubicBezTo>
                  <a:lnTo>
                    <a:pt x="0" y="82457"/>
                  </a:lnTo>
                  <a:cubicBezTo>
                    <a:pt x="0" y="60588"/>
                    <a:pt x="8687" y="39615"/>
                    <a:pt x="24151" y="24151"/>
                  </a:cubicBezTo>
                  <a:cubicBezTo>
                    <a:pt x="39615" y="8687"/>
                    <a:pt x="60588" y="0"/>
                    <a:pt x="82457" y="0"/>
                  </a:cubicBezTo>
                  <a:close/>
                </a:path>
              </a:pathLst>
            </a:custGeom>
            <a:solidFill>
              <a:srgbClr val="32C7E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1261147" cy="1216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b="true" sz="3000" spc="300">
                  <a:solidFill>
                    <a:srgbClr val="C1FF72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Customer Problem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spc="210">
                  <a:solidFill>
                    <a:srgbClr val="C1FF72"/>
                  </a:solidFill>
                  <a:latin typeface="Arial"/>
                  <a:ea typeface="Arial"/>
                  <a:cs typeface="Arial"/>
                  <a:sym typeface="Arial"/>
                </a:rPr>
                <a:t>Vague complaint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spc="210">
                  <a:solidFill>
                    <a:srgbClr val="C1FF72"/>
                  </a:solidFill>
                  <a:latin typeface="Arial"/>
                  <a:ea typeface="Arial"/>
                  <a:cs typeface="Arial"/>
                  <a:sym typeface="Arial"/>
                </a:rPr>
                <a:t>“Screen flickers and battery dies fast”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79116" y="2319137"/>
            <a:ext cx="4788416" cy="4294195"/>
            <a:chOff x="0" y="0"/>
            <a:chExt cx="1261147" cy="11309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1147" cy="1130981"/>
            </a:xfrm>
            <a:custGeom>
              <a:avLst/>
              <a:gdLst/>
              <a:ahLst/>
              <a:cxnLst/>
              <a:rect r="r" b="b" t="t" l="l"/>
              <a:pathLst>
                <a:path h="1130981" w="1261147">
                  <a:moveTo>
                    <a:pt x="82457" y="0"/>
                  </a:moveTo>
                  <a:lnTo>
                    <a:pt x="1178690" y="0"/>
                  </a:lnTo>
                  <a:cubicBezTo>
                    <a:pt x="1200559" y="0"/>
                    <a:pt x="1221532" y="8687"/>
                    <a:pt x="1236996" y="24151"/>
                  </a:cubicBezTo>
                  <a:cubicBezTo>
                    <a:pt x="1252459" y="39615"/>
                    <a:pt x="1261147" y="60588"/>
                    <a:pt x="1261147" y="82457"/>
                  </a:cubicBezTo>
                  <a:lnTo>
                    <a:pt x="1261147" y="1048525"/>
                  </a:lnTo>
                  <a:cubicBezTo>
                    <a:pt x="1261147" y="1070393"/>
                    <a:pt x="1252459" y="1091367"/>
                    <a:pt x="1236996" y="1106830"/>
                  </a:cubicBezTo>
                  <a:cubicBezTo>
                    <a:pt x="1221532" y="1122294"/>
                    <a:pt x="1200559" y="1130981"/>
                    <a:pt x="1178690" y="1130981"/>
                  </a:cubicBezTo>
                  <a:lnTo>
                    <a:pt x="82457" y="1130981"/>
                  </a:lnTo>
                  <a:cubicBezTo>
                    <a:pt x="60588" y="1130981"/>
                    <a:pt x="39615" y="1122294"/>
                    <a:pt x="24151" y="1106830"/>
                  </a:cubicBezTo>
                  <a:cubicBezTo>
                    <a:pt x="8687" y="1091367"/>
                    <a:pt x="0" y="1070393"/>
                    <a:pt x="0" y="1048525"/>
                  </a:cubicBezTo>
                  <a:lnTo>
                    <a:pt x="0" y="82457"/>
                  </a:lnTo>
                  <a:cubicBezTo>
                    <a:pt x="0" y="60588"/>
                    <a:pt x="8687" y="39615"/>
                    <a:pt x="24151" y="24151"/>
                  </a:cubicBezTo>
                  <a:cubicBezTo>
                    <a:pt x="39615" y="8687"/>
                    <a:pt x="60588" y="0"/>
                    <a:pt x="82457" y="0"/>
                  </a:cubicBezTo>
                  <a:close/>
                </a:path>
              </a:pathLst>
            </a:custGeom>
            <a:solidFill>
              <a:srgbClr val="32C7E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261147" cy="1197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 spc="249">
                  <a:solidFill>
                    <a:srgbClr val="C1FF72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PRISM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spc="210">
                  <a:solidFill>
                    <a:srgbClr val="C1FF72"/>
                  </a:solidFill>
                  <a:latin typeface="Arial"/>
                  <a:ea typeface="Arial"/>
                  <a:cs typeface="Arial"/>
                  <a:sym typeface="Arial"/>
                </a:rPr>
                <a:t>Understands + structures + maps</a:t>
              </a: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 spc="210">
                  <a:solidFill>
                    <a:srgbClr val="C1FF72"/>
                  </a:solidFill>
                  <a:latin typeface="Arial"/>
                  <a:ea typeface="Arial"/>
                  <a:cs typeface="Arial"/>
                  <a:sym typeface="Arial"/>
                </a:rPr>
                <a:t>Technical query enrichment</a:t>
              </a: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 spc="210">
                  <a:solidFill>
                    <a:srgbClr val="C1FF72"/>
                  </a:solidFill>
                  <a:latin typeface="Arial"/>
                  <a:ea typeface="Arial"/>
                  <a:cs typeface="Arial"/>
                  <a:sym typeface="Arial"/>
                </a:rPr>
                <a:t>Ordered troubleshooting steps</a:t>
              </a: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 spc="210">
                  <a:solidFill>
                    <a:srgbClr val="C1FF72"/>
                  </a:solidFill>
                  <a:latin typeface="Arial"/>
                  <a:ea typeface="Arial"/>
                  <a:cs typeface="Arial"/>
                  <a:sym typeface="Arial"/>
                </a:rPr>
                <a:t>Settings deeplink resolution</a:t>
              </a:r>
            </a:p>
            <a:p>
              <a:pPr algn="ctr">
                <a:lnSpc>
                  <a:spcPts val="20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>
            <a:off x="6198116" y="4466234"/>
            <a:ext cx="381000" cy="0"/>
          </a:xfrm>
          <a:custGeom>
            <a:avLst/>
            <a:gdLst/>
            <a:ahLst/>
            <a:cxnLst/>
            <a:rect r="r" b="b" t="t" l="l"/>
            <a:pathLst>
              <a:path h="0"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ln cap="rnd" w="38100">
            <a:solidFill>
              <a:srgbClr val="ACB8C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12129532" y="2319137"/>
            <a:ext cx="4788416" cy="4294195"/>
            <a:chOff x="0" y="0"/>
            <a:chExt cx="1261147" cy="11309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1147" cy="1130981"/>
            </a:xfrm>
            <a:custGeom>
              <a:avLst/>
              <a:gdLst/>
              <a:ahLst/>
              <a:cxnLst/>
              <a:rect r="r" b="b" t="t" l="l"/>
              <a:pathLst>
                <a:path h="1130981" w="1261147">
                  <a:moveTo>
                    <a:pt x="82457" y="0"/>
                  </a:moveTo>
                  <a:lnTo>
                    <a:pt x="1178690" y="0"/>
                  </a:lnTo>
                  <a:cubicBezTo>
                    <a:pt x="1200559" y="0"/>
                    <a:pt x="1221532" y="8687"/>
                    <a:pt x="1236996" y="24151"/>
                  </a:cubicBezTo>
                  <a:cubicBezTo>
                    <a:pt x="1252459" y="39615"/>
                    <a:pt x="1261147" y="60588"/>
                    <a:pt x="1261147" y="82457"/>
                  </a:cubicBezTo>
                  <a:lnTo>
                    <a:pt x="1261147" y="1048525"/>
                  </a:lnTo>
                  <a:cubicBezTo>
                    <a:pt x="1261147" y="1070393"/>
                    <a:pt x="1252459" y="1091367"/>
                    <a:pt x="1236996" y="1106830"/>
                  </a:cubicBezTo>
                  <a:cubicBezTo>
                    <a:pt x="1221532" y="1122294"/>
                    <a:pt x="1200559" y="1130981"/>
                    <a:pt x="1178690" y="1130981"/>
                  </a:cubicBezTo>
                  <a:lnTo>
                    <a:pt x="82457" y="1130981"/>
                  </a:lnTo>
                  <a:cubicBezTo>
                    <a:pt x="60588" y="1130981"/>
                    <a:pt x="39615" y="1122294"/>
                    <a:pt x="24151" y="1106830"/>
                  </a:cubicBezTo>
                  <a:cubicBezTo>
                    <a:pt x="8687" y="1091367"/>
                    <a:pt x="0" y="1070393"/>
                    <a:pt x="0" y="1048525"/>
                  </a:cubicBezTo>
                  <a:lnTo>
                    <a:pt x="0" y="82457"/>
                  </a:lnTo>
                  <a:cubicBezTo>
                    <a:pt x="0" y="60588"/>
                    <a:pt x="8687" y="39615"/>
                    <a:pt x="24151" y="24151"/>
                  </a:cubicBezTo>
                  <a:cubicBezTo>
                    <a:pt x="39615" y="8687"/>
                    <a:pt x="60588" y="0"/>
                    <a:pt x="82457" y="0"/>
                  </a:cubicBezTo>
                  <a:close/>
                </a:path>
              </a:pathLst>
            </a:custGeom>
            <a:solidFill>
              <a:srgbClr val="32C7E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261147" cy="1197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 spc="249">
                  <a:solidFill>
                    <a:srgbClr val="C1FF72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User Outcome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spc="210">
                  <a:solidFill>
                    <a:srgbClr val="C1FF72"/>
                  </a:solidFill>
                  <a:latin typeface="Arial"/>
                  <a:ea typeface="Arial"/>
                  <a:cs typeface="Arial"/>
                  <a:sym typeface="Arial"/>
                </a:rPr>
                <a:t>One-tap troubleshooting</a:t>
              </a: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 spc="210">
                  <a:solidFill>
                    <a:srgbClr val="C1FF72"/>
                  </a:solidFill>
                  <a:latin typeface="Arial"/>
                  <a:ea typeface="Arial"/>
                  <a:cs typeface="Arial"/>
                  <a:sym typeface="Arial"/>
                </a:rPr>
                <a:t>Clear action path</a:t>
              </a: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 spc="210">
                  <a:solidFill>
                    <a:srgbClr val="C1FF72"/>
                  </a:solidFill>
                  <a:latin typeface="Arial"/>
                  <a:ea typeface="Arial"/>
                  <a:cs typeface="Arial"/>
                  <a:sym typeface="Arial"/>
                </a:rPr>
                <a:t>No Settings hunting</a:t>
              </a: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 spc="210">
                  <a:solidFill>
                    <a:srgbClr val="C1FF72"/>
                  </a:solidFill>
                  <a:latin typeface="Arial"/>
                  <a:ea typeface="Arial"/>
                  <a:cs typeface="Arial"/>
                  <a:sym typeface="Arial"/>
                </a:rPr>
                <a:t>Structured JSON response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>
            <a:off x="11748532" y="4466234"/>
            <a:ext cx="381000" cy="0"/>
          </a:xfrm>
          <a:custGeom>
            <a:avLst/>
            <a:gdLst/>
            <a:ahLst/>
            <a:cxnLst/>
            <a:rect r="r" b="b" t="t" l="l"/>
            <a:pathLst>
              <a:path h="0"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ln cap="rnd" w="38100">
            <a:solidFill>
              <a:srgbClr val="ACB8C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4489190" y="7545064"/>
            <a:ext cx="2582727" cy="258272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D9D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39700" y="120650"/>
              <a:ext cx="5334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3153B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15 min</a:t>
              </a:r>
            </a:p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3153B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Manual agent effort</a:t>
              </a:r>
            </a:p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33917" y="7545064"/>
            <a:ext cx="2582727" cy="2613776"/>
            <a:chOff x="0" y="0"/>
            <a:chExt cx="812800" cy="8225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22571"/>
            </a:xfrm>
            <a:custGeom>
              <a:avLst/>
              <a:gdLst/>
              <a:ahLst/>
              <a:cxnLst/>
              <a:rect r="r" b="b" t="t" l="l"/>
              <a:pathLst>
                <a:path h="822571" w="812800">
                  <a:moveTo>
                    <a:pt x="406400" y="0"/>
                  </a:moveTo>
                  <a:lnTo>
                    <a:pt x="812800" y="411286"/>
                  </a:lnTo>
                  <a:lnTo>
                    <a:pt x="406400" y="822571"/>
                  </a:lnTo>
                  <a:lnTo>
                    <a:pt x="0" y="4112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D9D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39700" y="122329"/>
              <a:ext cx="533400" cy="558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3153B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10K+</a:t>
              </a:r>
            </a:p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3153B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Production-scale scenario target</a:t>
              </a:r>
            </a:p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178643" y="7545064"/>
            <a:ext cx="2582727" cy="258272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D9D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39700" y="120650"/>
              <a:ext cx="5334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3153B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&lt;300 ms</a:t>
              </a:r>
            </a:p>
            <a:p>
              <a:pPr algn="ctr">
                <a:lnSpc>
                  <a:spcPts val="2099"/>
                </a:lnSpc>
              </a:pPr>
              <a:r>
                <a:rPr lang="en-US" b="true" sz="1749" spc="174">
                  <a:solidFill>
                    <a:srgbClr val="3153B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Fast-path response target</a:t>
              </a:r>
            </a:p>
            <a:p>
              <a:pPr algn="ctr">
                <a:lnSpc>
                  <a:spcPts val="209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2253996"/>
            <a:chOff x="0" y="0"/>
            <a:chExt cx="21031200" cy="30053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3005329"/>
            </a:xfrm>
            <a:custGeom>
              <a:avLst/>
              <a:gdLst/>
              <a:ahLst/>
              <a:cxnLst/>
              <a:rect r="r" b="b" t="t" l="l"/>
              <a:pathLst>
                <a:path h="3005329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3005329"/>
                  </a:lnTo>
                  <a:lnTo>
                    <a:pt x="0" y="30053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248" r="0" b="-8046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2929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 b="true">
                  <a:solidFill>
                    <a:srgbClr val="704EA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Innovation highlights, results and limitations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38616" y="2923184"/>
            <a:ext cx="5410768" cy="6801908"/>
            <a:chOff x="0" y="0"/>
            <a:chExt cx="1425058" cy="17914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5058" cy="1791449"/>
            </a:xfrm>
            <a:custGeom>
              <a:avLst/>
              <a:gdLst/>
              <a:ahLst/>
              <a:cxnLst/>
              <a:rect r="r" b="b" t="t" l="l"/>
              <a:pathLst>
                <a:path h="1791449" w="1425058">
                  <a:moveTo>
                    <a:pt x="72973" y="0"/>
                  </a:moveTo>
                  <a:lnTo>
                    <a:pt x="1352086" y="0"/>
                  </a:lnTo>
                  <a:cubicBezTo>
                    <a:pt x="1392387" y="0"/>
                    <a:pt x="1425058" y="32671"/>
                    <a:pt x="1425058" y="72973"/>
                  </a:cubicBezTo>
                  <a:lnTo>
                    <a:pt x="1425058" y="1718476"/>
                  </a:lnTo>
                  <a:cubicBezTo>
                    <a:pt x="1425058" y="1758778"/>
                    <a:pt x="1392387" y="1791449"/>
                    <a:pt x="1352086" y="1791449"/>
                  </a:cubicBezTo>
                  <a:lnTo>
                    <a:pt x="72973" y="1791449"/>
                  </a:lnTo>
                  <a:cubicBezTo>
                    <a:pt x="32671" y="1791449"/>
                    <a:pt x="0" y="1758778"/>
                    <a:pt x="0" y="1718476"/>
                  </a:cubicBezTo>
                  <a:lnTo>
                    <a:pt x="0" y="72973"/>
                  </a:lnTo>
                  <a:cubicBezTo>
                    <a:pt x="0" y="32671"/>
                    <a:pt x="32671" y="0"/>
                    <a:pt x="72973" y="0"/>
                  </a:cubicBezTo>
                  <a:close/>
                </a:path>
              </a:pathLst>
            </a:custGeom>
            <a:solidFill>
              <a:srgbClr val="3DC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425058" cy="1810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  <a:p>
              <a:pPr algn="ctr">
                <a:lnSpc>
                  <a:spcPts val="2099"/>
                </a:lnSpc>
              </a:pPr>
            </a:p>
            <a:p>
              <a:pPr algn="ctr">
                <a:lnSpc>
                  <a:spcPts val="2099"/>
                </a:lnSpc>
              </a:pPr>
            </a:p>
            <a:p>
              <a:pPr algn="ctr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~85%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spc="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STEP ACCURACY</a:t>
              </a:r>
            </a:p>
            <a:p>
              <a:pPr algn="ctr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50 ms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spc="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CACHE HIT</a:t>
              </a:r>
            </a:p>
            <a:p>
              <a:pPr algn="ctr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2–3 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spc="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COLD QUERY</a:t>
              </a:r>
            </a:p>
            <a:p>
              <a:pPr algn="ctr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100%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spc="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SCHEMA COMPLIANCE</a:t>
              </a:r>
            </a:p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$0.015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spc="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COST / QUERY</a:t>
              </a:r>
            </a:p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38616" y="2923184"/>
            <a:ext cx="5410768" cy="1814733"/>
            <a:chOff x="0" y="0"/>
            <a:chExt cx="622300" cy="2087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2300" cy="217264"/>
            </a:xfrm>
            <a:custGeom>
              <a:avLst/>
              <a:gdLst/>
              <a:ahLst/>
              <a:cxnLst/>
              <a:rect r="r" b="b" t="t" l="l"/>
              <a:pathLst>
                <a:path h="217264" w="622300">
                  <a:moveTo>
                    <a:pt x="594913" y="0"/>
                  </a:moveTo>
                  <a:lnTo>
                    <a:pt x="27387" y="0"/>
                  </a:lnTo>
                  <a:cubicBezTo>
                    <a:pt x="20124" y="0"/>
                    <a:pt x="13158" y="2885"/>
                    <a:pt x="8021" y="8021"/>
                  </a:cubicBezTo>
                  <a:cubicBezTo>
                    <a:pt x="2885" y="13158"/>
                    <a:pt x="0" y="20124"/>
                    <a:pt x="0" y="27387"/>
                  </a:cubicBezTo>
                  <a:lnTo>
                    <a:pt x="0" y="187230"/>
                  </a:lnTo>
                  <a:cubicBezTo>
                    <a:pt x="33101" y="203443"/>
                    <a:pt x="139024" y="245828"/>
                    <a:pt x="297909" y="187230"/>
                  </a:cubicBezTo>
                  <a:cubicBezTo>
                    <a:pt x="456795" y="148318"/>
                    <a:pt x="580372" y="171016"/>
                    <a:pt x="622300" y="187230"/>
                  </a:cubicBezTo>
                  <a:lnTo>
                    <a:pt x="622300" y="27387"/>
                  </a:lnTo>
                  <a:cubicBezTo>
                    <a:pt x="622300" y="20124"/>
                    <a:pt x="619415" y="13158"/>
                    <a:pt x="614278" y="8021"/>
                  </a:cubicBezTo>
                  <a:cubicBezTo>
                    <a:pt x="609142" y="2885"/>
                    <a:pt x="602176" y="0"/>
                    <a:pt x="594913" y="0"/>
                  </a:cubicBezTo>
                  <a:close/>
                </a:path>
              </a:pathLst>
            </a:custGeom>
            <a:solidFill>
              <a:srgbClr val="3153B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42875"/>
              <a:ext cx="622300" cy="306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000"/>
                </a:lnSpc>
              </a:pPr>
              <a:r>
                <a:rPr lang="en-US" b="true" sz="5000" spc="500">
                  <a:solidFill>
                    <a:srgbClr val="C1FF72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Results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65848" y="2923184"/>
            <a:ext cx="5410768" cy="6801908"/>
            <a:chOff x="0" y="0"/>
            <a:chExt cx="1425058" cy="17914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25058" cy="1791449"/>
            </a:xfrm>
            <a:custGeom>
              <a:avLst/>
              <a:gdLst/>
              <a:ahLst/>
              <a:cxnLst/>
              <a:rect r="r" b="b" t="t" l="l"/>
              <a:pathLst>
                <a:path h="1791449" w="1425058">
                  <a:moveTo>
                    <a:pt x="72973" y="0"/>
                  </a:moveTo>
                  <a:lnTo>
                    <a:pt x="1352086" y="0"/>
                  </a:lnTo>
                  <a:cubicBezTo>
                    <a:pt x="1392387" y="0"/>
                    <a:pt x="1425058" y="32671"/>
                    <a:pt x="1425058" y="72973"/>
                  </a:cubicBezTo>
                  <a:lnTo>
                    <a:pt x="1425058" y="1718476"/>
                  </a:lnTo>
                  <a:cubicBezTo>
                    <a:pt x="1425058" y="1758778"/>
                    <a:pt x="1392387" y="1791449"/>
                    <a:pt x="1352086" y="1791449"/>
                  </a:cubicBezTo>
                  <a:lnTo>
                    <a:pt x="72973" y="1791449"/>
                  </a:lnTo>
                  <a:cubicBezTo>
                    <a:pt x="32671" y="1791449"/>
                    <a:pt x="0" y="1758778"/>
                    <a:pt x="0" y="1718476"/>
                  </a:cubicBezTo>
                  <a:lnTo>
                    <a:pt x="0" y="72973"/>
                  </a:lnTo>
                  <a:cubicBezTo>
                    <a:pt x="0" y="32671"/>
                    <a:pt x="32671" y="0"/>
                    <a:pt x="72973" y="0"/>
                  </a:cubicBezTo>
                  <a:close/>
                </a:path>
              </a:pathLst>
            </a:custGeom>
            <a:solidFill>
              <a:srgbClr val="3DC3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425058" cy="1810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  <a:p>
              <a:pPr algn="ctr">
                <a:lnSpc>
                  <a:spcPts val="2099"/>
                </a:lnSpc>
              </a:pPr>
            </a:p>
            <a:p>
              <a:pPr algn="ctr">
                <a:lnSpc>
                  <a:spcPts val="2099"/>
                </a:lnSpc>
              </a:pPr>
            </a:p>
            <a:p>
              <a:pPr algn="ctr">
                <a:lnSpc>
                  <a:spcPts val="2099"/>
                </a:lnSpc>
              </a:pPr>
            </a:p>
            <a:p>
              <a:pPr algn="ctr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Query Enrichment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spc="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Vague complaint → technical query</a:t>
              </a:r>
            </a:p>
            <a:p>
              <a:pPr algn="ctr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Two-Stage LLM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spc="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Intent → ordered troubleshooting steps</a:t>
              </a:r>
            </a:p>
            <a:p>
              <a:pPr algn="ctr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Deeplink Mapping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spc="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Every step → exact Settings action</a:t>
              </a:r>
            </a:p>
            <a:p>
              <a:pPr algn="ctr">
                <a:lnSpc>
                  <a:spcPts val="2400"/>
                </a:lnSpc>
              </a:pPr>
            </a:p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Fast-Path Cache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spc="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Pre-validated answers → instant response</a:t>
              </a:r>
            </a:p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611384" y="2923184"/>
            <a:ext cx="5410768" cy="6801908"/>
            <a:chOff x="0" y="0"/>
            <a:chExt cx="1425058" cy="17914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25058" cy="1791449"/>
            </a:xfrm>
            <a:custGeom>
              <a:avLst/>
              <a:gdLst/>
              <a:ahLst/>
              <a:cxnLst/>
              <a:rect r="r" b="b" t="t" l="l"/>
              <a:pathLst>
                <a:path h="1791449" w="1425058">
                  <a:moveTo>
                    <a:pt x="72973" y="0"/>
                  </a:moveTo>
                  <a:lnTo>
                    <a:pt x="1352086" y="0"/>
                  </a:lnTo>
                  <a:cubicBezTo>
                    <a:pt x="1392387" y="0"/>
                    <a:pt x="1425058" y="32671"/>
                    <a:pt x="1425058" y="72973"/>
                  </a:cubicBezTo>
                  <a:lnTo>
                    <a:pt x="1425058" y="1718476"/>
                  </a:lnTo>
                  <a:cubicBezTo>
                    <a:pt x="1425058" y="1758778"/>
                    <a:pt x="1392387" y="1791449"/>
                    <a:pt x="1352086" y="1791449"/>
                  </a:cubicBezTo>
                  <a:lnTo>
                    <a:pt x="72973" y="1791449"/>
                  </a:lnTo>
                  <a:cubicBezTo>
                    <a:pt x="32671" y="1791449"/>
                    <a:pt x="0" y="1758778"/>
                    <a:pt x="0" y="1718476"/>
                  </a:cubicBezTo>
                  <a:lnTo>
                    <a:pt x="0" y="72973"/>
                  </a:lnTo>
                  <a:cubicBezTo>
                    <a:pt x="0" y="32671"/>
                    <a:pt x="32671" y="0"/>
                    <a:pt x="72973" y="0"/>
                  </a:cubicBezTo>
                  <a:close/>
                </a:path>
              </a:pathLst>
            </a:custGeom>
            <a:solidFill>
              <a:srgbClr val="3DC3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425058" cy="180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 spc="2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Exact-match cache in current prototype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 spc="2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In-memory cache instead of persistent Redis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 spc="2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Deeplink catalog requires expansion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 spc="2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Limited validation dataset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 spc="2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Single-language support</a:t>
              </a:r>
            </a:p>
            <a:p>
              <a:pPr algn="l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65848" y="2923184"/>
            <a:ext cx="5410768" cy="1814733"/>
            <a:chOff x="0" y="0"/>
            <a:chExt cx="622300" cy="208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2300" cy="217264"/>
            </a:xfrm>
            <a:custGeom>
              <a:avLst/>
              <a:gdLst/>
              <a:ahLst/>
              <a:cxnLst/>
              <a:rect r="r" b="b" t="t" l="l"/>
              <a:pathLst>
                <a:path h="217264" w="622300">
                  <a:moveTo>
                    <a:pt x="594913" y="0"/>
                  </a:moveTo>
                  <a:lnTo>
                    <a:pt x="27387" y="0"/>
                  </a:lnTo>
                  <a:cubicBezTo>
                    <a:pt x="20124" y="0"/>
                    <a:pt x="13158" y="2885"/>
                    <a:pt x="8021" y="8021"/>
                  </a:cubicBezTo>
                  <a:cubicBezTo>
                    <a:pt x="2885" y="13158"/>
                    <a:pt x="0" y="20124"/>
                    <a:pt x="0" y="27387"/>
                  </a:cubicBezTo>
                  <a:lnTo>
                    <a:pt x="0" y="187230"/>
                  </a:lnTo>
                  <a:cubicBezTo>
                    <a:pt x="33101" y="203443"/>
                    <a:pt x="139024" y="245828"/>
                    <a:pt x="297909" y="187230"/>
                  </a:cubicBezTo>
                  <a:cubicBezTo>
                    <a:pt x="456795" y="148318"/>
                    <a:pt x="580372" y="171016"/>
                    <a:pt x="622300" y="187230"/>
                  </a:cubicBezTo>
                  <a:lnTo>
                    <a:pt x="622300" y="27387"/>
                  </a:lnTo>
                  <a:cubicBezTo>
                    <a:pt x="622300" y="20124"/>
                    <a:pt x="619415" y="13158"/>
                    <a:pt x="614278" y="8021"/>
                  </a:cubicBezTo>
                  <a:cubicBezTo>
                    <a:pt x="609142" y="2885"/>
                    <a:pt x="602176" y="0"/>
                    <a:pt x="594913" y="0"/>
                  </a:cubicBezTo>
                  <a:close/>
                </a:path>
              </a:pathLst>
            </a:custGeom>
            <a:solidFill>
              <a:srgbClr val="3153B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42875"/>
              <a:ext cx="622300" cy="306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000"/>
                </a:lnSpc>
              </a:pPr>
              <a:r>
                <a:rPr lang="en-US" b="true" sz="5000" spc="500">
                  <a:solidFill>
                    <a:srgbClr val="C1FF72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Innovation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11384" y="2923184"/>
            <a:ext cx="5410768" cy="1814733"/>
            <a:chOff x="0" y="0"/>
            <a:chExt cx="622300" cy="2087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2300" cy="217264"/>
            </a:xfrm>
            <a:custGeom>
              <a:avLst/>
              <a:gdLst/>
              <a:ahLst/>
              <a:cxnLst/>
              <a:rect r="r" b="b" t="t" l="l"/>
              <a:pathLst>
                <a:path h="217264" w="622300">
                  <a:moveTo>
                    <a:pt x="594913" y="0"/>
                  </a:moveTo>
                  <a:lnTo>
                    <a:pt x="27387" y="0"/>
                  </a:lnTo>
                  <a:cubicBezTo>
                    <a:pt x="20124" y="0"/>
                    <a:pt x="13158" y="2885"/>
                    <a:pt x="8021" y="8021"/>
                  </a:cubicBezTo>
                  <a:cubicBezTo>
                    <a:pt x="2885" y="13158"/>
                    <a:pt x="0" y="20124"/>
                    <a:pt x="0" y="27387"/>
                  </a:cubicBezTo>
                  <a:lnTo>
                    <a:pt x="0" y="187230"/>
                  </a:lnTo>
                  <a:cubicBezTo>
                    <a:pt x="33101" y="203443"/>
                    <a:pt x="139024" y="245828"/>
                    <a:pt x="297909" y="187230"/>
                  </a:cubicBezTo>
                  <a:cubicBezTo>
                    <a:pt x="456795" y="148318"/>
                    <a:pt x="580372" y="171016"/>
                    <a:pt x="622300" y="187230"/>
                  </a:cubicBezTo>
                  <a:lnTo>
                    <a:pt x="622300" y="27387"/>
                  </a:lnTo>
                  <a:cubicBezTo>
                    <a:pt x="622300" y="20124"/>
                    <a:pt x="619415" y="13158"/>
                    <a:pt x="614278" y="8021"/>
                  </a:cubicBezTo>
                  <a:cubicBezTo>
                    <a:pt x="609142" y="2885"/>
                    <a:pt x="602176" y="0"/>
                    <a:pt x="594913" y="0"/>
                  </a:cubicBezTo>
                  <a:close/>
                </a:path>
              </a:pathLst>
            </a:custGeom>
            <a:solidFill>
              <a:srgbClr val="3153B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33350"/>
              <a:ext cx="622300" cy="297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b="true" sz="4900" spc="490">
                  <a:solidFill>
                    <a:srgbClr val="C1FF72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Limitations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 b="true">
                  <a:solidFill>
                    <a:srgbClr val="704EA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What’s next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9990" y="2191006"/>
            <a:ext cx="7460869" cy="3214231"/>
            <a:chOff x="0" y="0"/>
            <a:chExt cx="1965003" cy="8465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5003" cy="846546"/>
            </a:xfrm>
            <a:custGeom>
              <a:avLst/>
              <a:gdLst/>
              <a:ahLst/>
              <a:cxnLst/>
              <a:rect r="r" b="b" t="t" l="l"/>
              <a:pathLst>
                <a:path h="846546" w="1965003">
                  <a:moveTo>
                    <a:pt x="52921" y="0"/>
                  </a:moveTo>
                  <a:lnTo>
                    <a:pt x="1912081" y="0"/>
                  </a:lnTo>
                  <a:cubicBezTo>
                    <a:pt x="1926117" y="0"/>
                    <a:pt x="1939578" y="5576"/>
                    <a:pt x="1949502" y="15500"/>
                  </a:cubicBezTo>
                  <a:cubicBezTo>
                    <a:pt x="1959427" y="25425"/>
                    <a:pt x="1965003" y="38886"/>
                    <a:pt x="1965003" y="52921"/>
                  </a:cubicBezTo>
                  <a:lnTo>
                    <a:pt x="1965003" y="793625"/>
                  </a:lnTo>
                  <a:cubicBezTo>
                    <a:pt x="1965003" y="807661"/>
                    <a:pt x="1959427" y="821122"/>
                    <a:pt x="1949502" y="831046"/>
                  </a:cubicBezTo>
                  <a:cubicBezTo>
                    <a:pt x="1939578" y="840971"/>
                    <a:pt x="1926117" y="846546"/>
                    <a:pt x="1912081" y="846546"/>
                  </a:cubicBezTo>
                  <a:lnTo>
                    <a:pt x="52921" y="846546"/>
                  </a:lnTo>
                  <a:cubicBezTo>
                    <a:pt x="38886" y="846546"/>
                    <a:pt x="25425" y="840971"/>
                    <a:pt x="15500" y="831046"/>
                  </a:cubicBezTo>
                  <a:cubicBezTo>
                    <a:pt x="5576" y="821122"/>
                    <a:pt x="0" y="807661"/>
                    <a:pt x="0" y="793625"/>
                  </a:cubicBezTo>
                  <a:lnTo>
                    <a:pt x="0" y="52921"/>
                  </a:lnTo>
                  <a:cubicBezTo>
                    <a:pt x="0" y="38886"/>
                    <a:pt x="5576" y="25425"/>
                    <a:pt x="15500" y="15500"/>
                  </a:cubicBezTo>
                  <a:cubicBezTo>
                    <a:pt x="25425" y="5576"/>
                    <a:pt x="38886" y="0"/>
                    <a:pt x="52921" y="0"/>
                  </a:cubicBezTo>
                  <a:close/>
                </a:path>
              </a:pathLst>
            </a:custGeom>
            <a:solidFill>
              <a:srgbClr val="38D9D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965003" cy="913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STAGE 1 — PROTOTYPE</a:t>
              </a:r>
            </a:p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CURRENT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FastAPI REST API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Claude-powered reasoning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Structured JSON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In-memory cache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Settings deeplinks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32860" y="2191006"/>
            <a:ext cx="7460869" cy="3214231"/>
            <a:chOff x="0" y="0"/>
            <a:chExt cx="1965003" cy="8465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65003" cy="846546"/>
            </a:xfrm>
            <a:custGeom>
              <a:avLst/>
              <a:gdLst/>
              <a:ahLst/>
              <a:cxnLst/>
              <a:rect r="r" b="b" t="t" l="l"/>
              <a:pathLst>
                <a:path h="846546" w="1965003">
                  <a:moveTo>
                    <a:pt x="52921" y="0"/>
                  </a:moveTo>
                  <a:lnTo>
                    <a:pt x="1912081" y="0"/>
                  </a:lnTo>
                  <a:cubicBezTo>
                    <a:pt x="1926117" y="0"/>
                    <a:pt x="1939578" y="5576"/>
                    <a:pt x="1949502" y="15500"/>
                  </a:cubicBezTo>
                  <a:cubicBezTo>
                    <a:pt x="1959427" y="25425"/>
                    <a:pt x="1965003" y="38886"/>
                    <a:pt x="1965003" y="52921"/>
                  </a:cubicBezTo>
                  <a:lnTo>
                    <a:pt x="1965003" y="793625"/>
                  </a:lnTo>
                  <a:cubicBezTo>
                    <a:pt x="1965003" y="807661"/>
                    <a:pt x="1959427" y="821122"/>
                    <a:pt x="1949502" y="831046"/>
                  </a:cubicBezTo>
                  <a:cubicBezTo>
                    <a:pt x="1939578" y="840971"/>
                    <a:pt x="1926117" y="846546"/>
                    <a:pt x="1912081" y="846546"/>
                  </a:cubicBezTo>
                  <a:lnTo>
                    <a:pt x="52921" y="846546"/>
                  </a:lnTo>
                  <a:cubicBezTo>
                    <a:pt x="38886" y="846546"/>
                    <a:pt x="25425" y="840971"/>
                    <a:pt x="15500" y="831046"/>
                  </a:cubicBezTo>
                  <a:cubicBezTo>
                    <a:pt x="5576" y="821122"/>
                    <a:pt x="0" y="807661"/>
                    <a:pt x="0" y="793625"/>
                  </a:cubicBezTo>
                  <a:lnTo>
                    <a:pt x="0" y="52921"/>
                  </a:lnTo>
                  <a:cubicBezTo>
                    <a:pt x="0" y="38886"/>
                    <a:pt x="5576" y="25425"/>
                    <a:pt x="15500" y="15500"/>
                  </a:cubicBezTo>
                  <a:cubicBezTo>
                    <a:pt x="25425" y="5576"/>
                    <a:pt x="38886" y="0"/>
                    <a:pt x="52921" y="0"/>
                  </a:cubicBezTo>
                  <a:close/>
                </a:path>
              </a:pathLst>
            </a:custGeom>
            <a:solidFill>
              <a:srgbClr val="38D9D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965003" cy="913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STAGE 2 — SMARTER CACHE</a:t>
              </a:r>
            </a:p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NEXT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Semantic similarity matching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Detect paraphrased complaints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Redis persistent cache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Better cache coverage</a:t>
              </a:r>
            </a:p>
            <a:p>
              <a:pPr algn="l">
                <a:lnSpc>
                  <a:spcPts val="22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>
            <a:off x="8651859" y="3798121"/>
            <a:ext cx="381000" cy="0"/>
          </a:xfrm>
          <a:custGeom>
            <a:avLst/>
            <a:gdLst/>
            <a:ahLst/>
            <a:cxnLst/>
            <a:rect r="r" b="b" t="t" l="l"/>
            <a:pathLst>
              <a:path h="0"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ln cap="rnd" w="38100">
            <a:solidFill>
              <a:srgbClr val="ACB8C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9032860" y="6011109"/>
            <a:ext cx="7460869" cy="2903055"/>
            <a:chOff x="0" y="0"/>
            <a:chExt cx="1965003" cy="7645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65003" cy="764591"/>
            </a:xfrm>
            <a:custGeom>
              <a:avLst/>
              <a:gdLst/>
              <a:ahLst/>
              <a:cxnLst/>
              <a:rect r="r" b="b" t="t" l="l"/>
              <a:pathLst>
                <a:path h="764591" w="1965003">
                  <a:moveTo>
                    <a:pt x="52921" y="0"/>
                  </a:moveTo>
                  <a:lnTo>
                    <a:pt x="1912081" y="0"/>
                  </a:lnTo>
                  <a:cubicBezTo>
                    <a:pt x="1926117" y="0"/>
                    <a:pt x="1939578" y="5576"/>
                    <a:pt x="1949502" y="15500"/>
                  </a:cubicBezTo>
                  <a:cubicBezTo>
                    <a:pt x="1959427" y="25425"/>
                    <a:pt x="1965003" y="38886"/>
                    <a:pt x="1965003" y="52921"/>
                  </a:cubicBezTo>
                  <a:lnTo>
                    <a:pt x="1965003" y="711669"/>
                  </a:lnTo>
                  <a:cubicBezTo>
                    <a:pt x="1965003" y="725705"/>
                    <a:pt x="1959427" y="739166"/>
                    <a:pt x="1949502" y="749090"/>
                  </a:cubicBezTo>
                  <a:cubicBezTo>
                    <a:pt x="1939578" y="759015"/>
                    <a:pt x="1926117" y="764591"/>
                    <a:pt x="1912081" y="764591"/>
                  </a:cubicBezTo>
                  <a:lnTo>
                    <a:pt x="52921" y="764591"/>
                  </a:lnTo>
                  <a:cubicBezTo>
                    <a:pt x="23694" y="764591"/>
                    <a:pt x="0" y="740897"/>
                    <a:pt x="0" y="711669"/>
                  </a:cubicBezTo>
                  <a:lnTo>
                    <a:pt x="0" y="52921"/>
                  </a:lnTo>
                  <a:cubicBezTo>
                    <a:pt x="0" y="38886"/>
                    <a:pt x="5576" y="25425"/>
                    <a:pt x="15500" y="15500"/>
                  </a:cubicBezTo>
                  <a:cubicBezTo>
                    <a:pt x="25425" y="5576"/>
                    <a:pt x="38886" y="0"/>
                    <a:pt x="52921" y="0"/>
                  </a:cubicBezTo>
                  <a:close/>
                </a:path>
              </a:pathLst>
            </a:custGeom>
            <a:solidFill>
              <a:srgbClr val="38D9D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965003" cy="831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STAGE 3 — PRODUCTION SCALE</a:t>
              </a:r>
            </a:p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SCALE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Expand to 10K+ scenarios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Larger deeplink catalog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Multi-device support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Multi-language support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Persistent infrastructure</a:t>
              </a:r>
            </a:p>
          </p:txBody>
        </p:sp>
      </p:grpSp>
      <p:sp>
        <p:nvSpPr>
          <p:cNvPr name="Freeform 15" id="15"/>
          <p:cNvSpPr/>
          <p:nvPr/>
        </p:nvSpPr>
        <p:spPr>
          <a:xfrm>
            <a:off x="12763294" y="5708173"/>
            <a:ext cx="0" cy="302936"/>
          </a:xfrm>
          <a:custGeom>
            <a:avLst/>
            <a:gdLst/>
            <a:ahLst/>
            <a:cxnLst/>
            <a:rect r="r" b="b" t="t" l="l"/>
            <a:pathLst>
              <a:path h="302936" w="0">
                <a:moveTo>
                  <a:pt x="0" y="0"/>
                </a:moveTo>
                <a:lnTo>
                  <a:pt x="0" y="302936"/>
                </a:lnTo>
              </a:path>
            </a:pathLst>
          </a:custGeom>
          <a:ln cap="rnd" w="38100">
            <a:solidFill>
              <a:srgbClr val="ACB8C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809990" y="6011109"/>
            <a:ext cx="7460869" cy="2903055"/>
            <a:chOff x="0" y="0"/>
            <a:chExt cx="1965003" cy="7645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65003" cy="764591"/>
            </a:xfrm>
            <a:custGeom>
              <a:avLst/>
              <a:gdLst/>
              <a:ahLst/>
              <a:cxnLst/>
              <a:rect r="r" b="b" t="t" l="l"/>
              <a:pathLst>
                <a:path h="764591" w="1965003">
                  <a:moveTo>
                    <a:pt x="52921" y="0"/>
                  </a:moveTo>
                  <a:lnTo>
                    <a:pt x="1912081" y="0"/>
                  </a:lnTo>
                  <a:cubicBezTo>
                    <a:pt x="1926117" y="0"/>
                    <a:pt x="1939578" y="5576"/>
                    <a:pt x="1949502" y="15500"/>
                  </a:cubicBezTo>
                  <a:cubicBezTo>
                    <a:pt x="1959427" y="25425"/>
                    <a:pt x="1965003" y="38886"/>
                    <a:pt x="1965003" y="52921"/>
                  </a:cubicBezTo>
                  <a:lnTo>
                    <a:pt x="1965003" y="711669"/>
                  </a:lnTo>
                  <a:cubicBezTo>
                    <a:pt x="1965003" y="725705"/>
                    <a:pt x="1959427" y="739166"/>
                    <a:pt x="1949502" y="749090"/>
                  </a:cubicBezTo>
                  <a:cubicBezTo>
                    <a:pt x="1939578" y="759015"/>
                    <a:pt x="1926117" y="764591"/>
                    <a:pt x="1912081" y="764591"/>
                  </a:cubicBezTo>
                  <a:lnTo>
                    <a:pt x="52921" y="764591"/>
                  </a:lnTo>
                  <a:cubicBezTo>
                    <a:pt x="23694" y="764591"/>
                    <a:pt x="0" y="740897"/>
                    <a:pt x="0" y="711669"/>
                  </a:cubicBezTo>
                  <a:lnTo>
                    <a:pt x="0" y="52921"/>
                  </a:lnTo>
                  <a:cubicBezTo>
                    <a:pt x="0" y="38886"/>
                    <a:pt x="5576" y="25425"/>
                    <a:pt x="15500" y="15500"/>
                  </a:cubicBezTo>
                  <a:cubicBezTo>
                    <a:pt x="25425" y="5576"/>
                    <a:pt x="38886" y="0"/>
                    <a:pt x="52921" y="0"/>
                  </a:cubicBezTo>
                  <a:close/>
                </a:path>
              </a:pathLst>
            </a:custGeom>
            <a:solidFill>
              <a:srgbClr val="38D9D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965003" cy="831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STAGE 4 — CONTINUOUS IMPROVEMENT</a:t>
              </a:r>
            </a:p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IMPACT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Track troubleshooting success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 feedback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Step-level validation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Latency &amp; cost analytics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Continuous refinement</a:t>
              </a:r>
            </a:p>
            <a:p>
              <a:pPr algn="ctr">
                <a:lnSpc>
                  <a:spcPts val="209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>
            <a:off x="8270859" y="7462637"/>
            <a:ext cx="381000" cy="0"/>
          </a:xfrm>
          <a:custGeom>
            <a:avLst/>
            <a:gdLst/>
            <a:ahLst/>
            <a:cxnLst/>
            <a:rect r="r" b="b" t="t" l="l"/>
            <a:pathLst>
              <a:path h="0" w="381000">
                <a:moveTo>
                  <a:pt x="381000" y="0"/>
                </a:moveTo>
                <a:lnTo>
                  <a:pt x="0" y="0"/>
                </a:lnTo>
              </a:path>
            </a:pathLst>
          </a:custGeom>
          <a:ln cap="rnd" w="38100">
            <a:solidFill>
              <a:srgbClr val="ACB8C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 b="true">
                  <a:solidFill>
                    <a:srgbClr val="704EA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WHY PRISM STANDS OUT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9990" y="2191006"/>
            <a:ext cx="7460869" cy="3214231"/>
            <a:chOff x="0" y="0"/>
            <a:chExt cx="1965003" cy="8465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5003" cy="846546"/>
            </a:xfrm>
            <a:custGeom>
              <a:avLst/>
              <a:gdLst/>
              <a:ahLst/>
              <a:cxnLst/>
              <a:rect r="r" b="b" t="t" l="l"/>
              <a:pathLst>
                <a:path h="846546" w="1965003">
                  <a:moveTo>
                    <a:pt x="52921" y="0"/>
                  </a:moveTo>
                  <a:lnTo>
                    <a:pt x="1912081" y="0"/>
                  </a:lnTo>
                  <a:cubicBezTo>
                    <a:pt x="1926117" y="0"/>
                    <a:pt x="1939578" y="5576"/>
                    <a:pt x="1949502" y="15500"/>
                  </a:cubicBezTo>
                  <a:cubicBezTo>
                    <a:pt x="1959427" y="25425"/>
                    <a:pt x="1965003" y="38886"/>
                    <a:pt x="1965003" y="52921"/>
                  </a:cubicBezTo>
                  <a:lnTo>
                    <a:pt x="1965003" y="793625"/>
                  </a:lnTo>
                  <a:cubicBezTo>
                    <a:pt x="1965003" y="807661"/>
                    <a:pt x="1959427" y="821122"/>
                    <a:pt x="1949502" y="831046"/>
                  </a:cubicBezTo>
                  <a:cubicBezTo>
                    <a:pt x="1939578" y="840971"/>
                    <a:pt x="1926117" y="846546"/>
                    <a:pt x="1912081" y="846546"/>
                  </a:cubicBezTo>
                  <a:lnTo>
                    <a:pt x="52921" y="846546"/>
                  </a:lnTo>
                  <a:cubicBezTo>
                    <a:pt x="38886" y="846546"/>
                    <a:pt x="25425" y="840971"/>
                    <a:pt x="15500" y="831046"/>
                  </a:cubicBezTo>
                  <a:cubicBezTo>
                    <a:pt x="5576" y="821122"/>
                    <a:pt x="0" y="807661"/>
                    <a:pt x="0" y="793625"/>
                  </a:cubicBezTo>
                  <a:lnTo>
                    <a:pt x="0" y="52921"/>
                  </a:lnTo>
                  <a:cubicBezTo>
                    <a:pt x="0" y="38886"/>
                    <a:pt x="5576" y="25425"/>
                    <a:pt x="15500" y="15500"/>
                  </a:cubicBezTo>
                  <a:cubicBezTo>
                    <a:pt x="25425" y="5576"/>
                    <a:pt x="38886" y="0"/>
                    <a:pt x="52921" y="0"/>
                  </a:cubicBezTo>
                  <a:close/>
                </a:path>
              </a:pathLst>
            </a:custGeom>
            <a:solidFill>
              <a:srgbClr val="38D9D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965003" cy="913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01 — AI THAT </a:t>
              </a:r>
              <a:r>
                <a:rPr lang="en-US" b="true" sz="2000" spc="200">
                  <a:solidFill>
                    <a:srgbClr val="000000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UNDERSTANDS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Vague complaint → Technical intent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Instead of requiring users to know technical terminology, the engine enriches the raw complaint before generating the troubleshooting flow.</a:t>
              </a:r>
            </a:p>
            <a:p>
              <a:pPr algn="l">
                <a:lnSpc>
                  <a:spcPts val="22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32860" y="2191006"/>
            <a:ext cx="7460869" cy="3214231"/>
            <a:chOff x="0" y="0"/>
            <a:chExt cx="1965003" cy="8465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65003" cy="846546"/>
            </a:xfrm>
            <a:custGeom>
              <a:avLst/>
              <a:gdLst/>
              <a:ahLst/>
              <a:cxnLst/>
              <a:rect r="r" b="b" t="t" l="l"/>
              <a:pathLst>
                <a:path h="846546" w="1965003">
                  <a:moveTo>
                    <a:pt x="52921" y="0"/>
                  </a:moveTo>
                  <a:lnTo>
                    <a:pt x="1912081" y="0"/>
                  </a:lnTo>
                  <a:cubicBezTo>
                    <a:pt x="1926117" y="0"/>
                    <a:pt x="1939578" y="5576"/>
                    <a:pt x="1949502" y="15500"/>
                  </a:cubicBezTo>
                  <a:cubicBezTo>
                    <a:pt x="1959427" y="25425"/>
                    <a:pt x="1965003" y="38886"/>
                    <a:pt x="1965003" y="52921"/>
                  </a:cubicBezTo>
                  <a:lnTo>
                    <a:pt x="1965003" y="793625"/>
                  </a:lnTo>
                  <a:cubicBezTo>
                    <a:pt x="1965003" y="807661"/>
                    <a:pt x="1959427" y="821122"/>
                    <a:pt x="1949502" y="831046"/>
                  </a:cubicBezTo>
                  <a:cubicBezTo>
                    <a:pt x="1939578" y="840971"/>
                    <a:pt x="1926117" y="846546"/>
                    <a:pt x="1912081" y="846546"/>
                  </a:cubicBezTo>
                  <a:lnTo>
                    <a:pt x="52921" y="846546"/>
                  </a:lnTo>
                  <a:cubicBezTo>
                    <a:pt x="38886" y="846546"/>
                    <a:pt x="25425" y="840971"/>
                    <a:pt x="15500" y="831046"/>
                  </a:cubicBezTo>
                  <a:cubicBezTo>
                    <a:pt x="5576" y="821122"/>
                    <a:pt x="0" y="807661"/>
                    <a:pt x="0" y="793625"/>
                  </a:cubicBezTo>
                  <a:lnTo>
                    <a:pt x="0" y="52921"/>
                  </a:lnTo>
                  <a:cubicBezTo>
                    <a:pt x="0" y="38886"/>
                    <a:pt x="5576" y="25425"/>
                    <a:pt x="15500" y="15500"/>
                  </a:cubicBezTo>
                  <a:cubicBezTo>
                    <a:pt x="25425" y="5576"/>
                    <a:pt x="38886" y="0"/>
                    <a:pt x="52921" y="0"/>
                  </a:cubicBezTo>
                  <a:close/>
                </a:path>
              </a:pathLst>
            </a:custGeom>
            <a:solidFill>
              <a:srgbClr val="38D9D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965003" cy="913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S02 — ACTIONABLE, NOT JUST CO</a:t>
              </a:r>
              <a:r>
                <a:rPr lang="en-US" b="true" sz="2000" spc="200">
                  <a:solidFill>
                    <a:srgbClr val="000000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NVERSATIONAL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Step → Settings deeplink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output doesn't stop at:</a:t>
              </a:r>
            </a:p>
            <a:p>
              <a:pPr algn="ctr">
                <a:lnSpc>
                  <a:spcPts val="2279"/>
                </a:lnSpc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“Go to Display Settings.”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</a:t>
              </a: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 provides the associated deeplink so the user can directly reach the relevant action.</a:t>
              </a:r>
            </a:p>
            <a:p>
              <a:pPr algn="l">
                <a:lnSpc>
                  <a:spcPts val="22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32860" y="6011109"/>
            <a:ext cx="7460869" cy="2903055"/>
            <a:chOff x="0" y="0"/>
            <a:chExt cx="1965003" cy="7645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5003" cy="764591"/>
            </a:xfrm>
            <a:custGeom>
              <a:avLst/>
              <a:gdLst/>
              <a:ahLst/>
              <a:cxnLst/>
              <a:rect r="r" b="b" t="t" l="l"/>
              <a:pathLst>
                <a:path h="764591" w="1965003">
                  <a:moveTo>
                    <a:pt x="52921" y="0"/>
                  </a:moveTo>
                  <a:lnTo>
                    <a:pt x="1912081" y="0"/>
                  </a:lnTo>
                  <a:cubicBezTo>
                    <a:pt x="1926117" y="0"/>
                    <a:pt x="1939578" y="5576"/>
                    <a:pt x="1949502" y="15500"/>
                  </a:cubicBezTo>
                  <a:cubicBezTo>
                    <a:pt x="1959427" y="25425"/>
                    <a:pt x="1965003" y="38886"/>
                    <a:pt x="1965003" y="52921"/>
                  </a:cubicBezTo>
                  <a:lnTo>
                    <a:pt x="1965003" y="711669"/>
                  </a:lnTo>
                  <a:cubicBezTo>
                    <a:pt x="1965003" y="725705"/>
                    <a:pt x="1959427" y="739166"/>
                    <a:pt x="1949502" y="749090"/>
                  </a:cubicBezTo>
                  <a:cubicBezTo>
                    <a:pt x="1939578" y="759015"/>
                    <a:pt x="1926117" y="764591"/>
                    <a:pt x="1912081" y="764591"/>
                  </a:cubicBezTo>
                  <a:lnTo>
                    <a:pt x="52921" y="764591"/>
                  </a:lnTo>
                  <a:cubicBezTo>
                    <a:pt x="23694" y="764591"/>
                    <a:pt x="0" y="740897"/>
                    <a:pt x="0" y="711669"/>
                  </a:cubicBezTo>
                  <a:lnTo>
                    <a:pt x="0" y="52921"/>
                  </a:lnTo>
                  <a:cubicBezTo>
                    <a:pt x="0" y="38886"/>
                    <a:pt x="5576" y="25425"/>
                    <a:pt x="15500" y="15500"/>
                  </a:cubicBezTo>
                  <a:cubicBezTo>
                    <a:pt x="25425" y="5576"/>
                    <a:pt x="38886" y="0"/>
                    <a:pt x="52921" y="0"/>
                  </a:cubicBezTo>
                  <a:close/>
                </a:path>
              </a:pathLst>
            </a:custGeom>
            <a:solidFill>
              <a:srgbClr val="38D9D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965003" cy="831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04 — BUILT FOR </a:t>
              </a:r>
              <a:r>
                <a:rPr lang="en-US" b="true" sz="2000" spc="200">
                  <a:solidFill>
                    <a:srgbClr val="000000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SCALE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Reusable m</a:t>
              </a: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apping architecture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same mapping approach is designed to expand toward: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10K+ troubleshooting scenarios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witho</a:t>
              </a: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ut hardcoding a completely separate workflow for every complaint.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9990" y="6011109"/>
            <a:ext cx="7460869" cy="2903055"/>
            <a:chOff x="0" y="0"/>
            <a:chExt cx="1965003" cy="7645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65003" cy="764591"/>
            </a:xfrm>
            <a:custGeom>
              <a:avLst/>
              <a:gdLst/>
              <a:ahLst/>
              <a:cxnLst/>
              <a:rect r="r" b="b" t="t" l="l"/>
              <a:pathLst>
                <a:path h="764591" w="1965003">
                  <a:moveTo>
                    <a:pt x="52921" y="0"/>
                  </a:moveTo>
                  <a:lnTo>
                    <a:pt x="1912081" y="0"/>
                  </a:lnTo>
                  <a:cubicBezTo>
                    <a:pt x="1926117" y="0"/>
                    <a:pt x="1939578" y="5576"/>
                    <a:pt x="1949502" y="15500"/>
                  </a:cubicBezTo>
                  <a:cubicBezTo>
                    <a:pt x="1959427" y="25425"/>
                    <a:pt x="1965003" y="38886"/>
                    <a:pt x="1965003" y="52921"/>
                  </a:cubicBezTo>
                  <a:lnTo>
                    <a:pt x="1965003" y="711669"/>
                  </a:lnTo>
                  <a:cubicBezTo>
                    <a:pt x="1965003" y="725705"/>
                    <a:pt x="1959427" y="739166"/>
                    <a:pt x="1949502" y="749090"/>
                  </a:cubicBezTo>
                  <a:cubicBezTo>
                    <a:pt x="1939578" y="759015"/>
                    <a:pt x="1926117" y="764591"/>
                    <a:pt x="1912081" y="764591"/>
                  </a:cubicBezTo>
                  <a:lnTo>
                    <a:pt x="52921" y="764591"/>
                  </a:lnTo>
                  <a:cubicBezTo>
                    <a:pt x="23694" y="764591"/>
                    <a:pt x="0" y="740897"/>
                    <a:pt x="0" y="711669"/>
                  </a:cubicBezTo>
                  <a:lnTo>
                    <a:pt x="0" y="52921"/>
                  </a:lnTo>
                  <a:cubicBezTo>
                    <a:pt x="0" y="38886"/>
                    <a:pt x="5576" y="25425"/>
                    <a:pt x="15500" y="15500"/>
                  </a:cubicBezTo>
                  <a:cubicBezTo>
                    <a:pt x="25425" y="5576"/>
                    <a:pt x="38886" y="0"/>
                    <a:pt x="52921" y="0"/>
                  </a:cubicBezTo>
                  <a:close/>
                </a:path>
              </a:pathLst>
            </a:custGeom>
            <a:solidFill>
              <a:srgbClr val="38D9D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965003" cy="831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 spc="200">
                  <a:solidFill>
                    <a:srgbClr val="000000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03 — SPEED BY DES</a:t>
              </a:r>
              <a:r>
                <a:rPr lang="en-US" b="true" sz="2000" spc="200">
                  <a:solidFill>
                    <a:srgbClr val="000000"/>
                  </a:solidFill>
                  <a:latin typeface="Agrandir Grand Bold"/>
                  <a:ea typeface="Agrandir Grand Bold"/>
                  <a:cs typeface="Agrandir Grand Bold"/>
                  <a:sym typeface="Agrandir Grand Bold"/>
                </a:rPr>
                <a:t>IGN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LLM fo</a:t>
              </a: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 intelligence + cache for speed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Frequ</a:t>
              </a: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ently repeated/pre-validated scenarios can bypass expensive LLM processing.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Target: &lt;300 ms</a:t>
              </a:r>
            </a:p>
            <a:p>
              <a:pPr algn="l" marL="410209" indent="-205105" lvl="1">
                <a:lnSpc>
                  <a:spcPts val="2279"/>
                </a:lnSpc>
                <a:buFont typeface="Arial"/>
                <a:buChar char="•"/>
              </a:pP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</a:t>
              </a:r>
              <a:r>
                <a:rPr lang="en-US" b="true" sz="1899" spc="18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ototype: ~50 ms cache hit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 b="true">
                  <a:solidFill>
                    <a:srgbClr val="704EA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Checklist- Updated on Public GitHub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23563" y="2536032"/>
            <a:ext cx="14240874" cy="6722268"/>
            <a:chOff x="0" y="0"/>
            <a:chExt cx="172188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1887" cy="812800"/>
            </a:xfrm>
            <a:custGeom>
              <a:avLst/>
              <a:gdLst/>
              <a:ahLst/>
              <a:cxnLst/>
              <a:rect r="r" b="b" t="t" l="l"/>
              <a:pathLst>
                <a:path h="812800" w="1721887">
                  <a:moveTo>
                    <a:pt x="1642468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1642468" y="812800"/>
                  </a:lnTo>
                  <a:cubicBezTo>
                    <a:pt x="1642468" y="769101"/>
                    <a:pt x="1677807" y="733382"/>
                    <a:pt x="1721887" y="733382"/>
                  </a:cubicBezTo>
                  <a:lnTo>
                    <a:pt x="1721887" y="79418"/>
                  </a:lnTo>
                  <a:cubicBezTo>
                    <a:pt x="1678187" y="79418"/>
                    <a:pt x="1642468" y="44079"/>
                    <a:pt x="1642468" y="0"/>
                  </a:cubicBezTo>
                  <a:close/>
                </a:path>
              </a:pathLst>
            </a:custGeom>
            <a:solidFill>
              <a:srgbClr val="3DC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38100" y="0"/>
              <a:ext cx="1645686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023563" y="2497932"/>
            <a:ext cx="14240874" cy="682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5"/>
              </a:lnSpc>
            </a:pPr>
            <a:r>
              <a:rPr lang="en-US" sz="382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</a:t>
            </a:r>
          </a:p>
          <a:p>
            <a:pPr algn="ctr">
              <a:lnSpc>
                <a:spcPts val="4135"/>
              </a:lnSpc>
            </a:pPr>
            <a:r>
              <a:rPr lang="en-US" sz="382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✓   PUBLIC GITHUB REPOSITORY</a:t>
            </a:r>
          </a:p>
          <a:p>
            <a:pPr algn="ctr">
              <a:lnSpc>
                <a:spcPts val="4135"/>
              </a:lnSpc>
            </a:pPr>
            <a:r>
              <a:rPr lang="en-US" sz="382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</a:t>
            </a:r>
            <a:r>
              <a:rPr lang="en-US" sz="382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Working prototype code - https://github.com/sinha-aayush/prism-troubleshoot</a:t>
            </a:r>
          </a:p>
          <a:p>
            <a:pPr algn="ctr">
              <a:lnSpc>
                <a:spcPts val="4135"/>
              </a:lnSpc>
            </a:pPr>
            <a:r>
              <a:rPr lang="en-US" sz="382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─────────────────────────────</a:t>
            </a:r>
          </a:p>
          <a:p>
            <a:pPr algn="ctr">
              <a:lnSpc>
                <a:spcPts val="4135"/>
              </a:lnSpc>
            </a:pPr>
            <a:r>
              <a:rPr lang="en-US" sz="382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✓   REPRODUCIBLE README</a:t>
            </a:r>
          </a:p>
          <a:p>
            <a:pPr algn="ctr">
              <a:lnSpc>
                <a:spcPts val="4135"/>
              </a:lnSpc>
            </a:pPr>
            <a:r>
              <a:rPr lang="en-US" sz="382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Setup • API • Docker • Testing</a:t>
            </a:r>
          </a:p>
          <a:p>
            <a:pPr algn="ctr">
              <a:lnSpc>
                <a:spcPts val="4135"/>
              </a:lnSpc>
            </a:pPr>
            <a:r>
              <a:rPr lang="en-US" sz="382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─────────────────────────────</a:t>
            </a:r>
          </a:p>
          <a:p>
            <a:pPr algn="ctr">
              <a:lnSpc>
                <a:spcPts val="4135"/>
              </a:lnSpc>
            </a:pPr>
            <a:r>
              <a:rPr lang="en-US" sz="382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DEMO VIDEO</a:t>
            </a:r>
          </a:p>
          <a:p>
            <a:pPr algn="ctr">
              <a:lnSpc>
                <a:spcPts val="4135"/>
              </a:lnSpc>
            </a:pPr>
            <a:r>
              <a:rPr lang="en-US" sz="382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YouTube - https://youtu.be/Nm0PtH_SBFQ</a:t>
            </a:r>
          </a:p>
          <a:p>
            <a:pPr algn="ctr">
              <a:lnSpc>
                <a:spcPts val="4135"/>
              </a:lnSpc>
            </a:pPr>
            <a:r>
              <a:rPr lang="en-US" sz="382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─────────────────────────────</a:t>
            </a:r>
          </a:p>
          <a:p>
            <a:pPr algn="ctr">
              <a:lnSpc>
                <a:spcPts val="4135"/>
              </a:lnSpc>
            </a:pPr>
            <a:r>
              <a:rPr lang="en-US" sz="382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✓   PRESENTATION FILE</a:t>
            </a:r>
          </a:p>
          <a:p>
            <a:pPr algn="ctr">
              <a:lnSpc>
                <a:spcPts val="4135"/>
              </a:lnSpc>
            </a:pPr>
            <a:r>
              <a:rPr lang="en-US" sz="382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PPT / PDF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9272" y="5595318"/>
            <a:ext cx="10149840" cy="1407033"/>
            <a:chOff x="0" y="0"/>
            <a:chExt cx="13533120" cy="18760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33120" cy="1876044"/>
            </a:xfrm>
            <a:custGeom>
              <a:avLst/>
              <a:gdLst/>
              <a:ahLst/>
              <a:cxnLst/>
              <a:rect r="r" b="b" t="t" l="l"/>
              <a:pathLst>
                <a:path h="1876044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1876044"/>
                  </a:lnTo>
                  <a:lnTo>
                    <a:pt x="0" y="18760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254" r="0" b="-8686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3533120" cy="1876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14142B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DAHWMI_mzws</dc:identifier>
  <dcterms:modified xsi:type="dcterms:W3CDTF">2011-08-01T06:04:30Z</dcterms:modified>
  <cp:revision>1</cp:revision>
  <dc:title>SRM_CtrlZ_Submission_ppt.pptx</dc:title>
</cp:coreProperties>
</file>